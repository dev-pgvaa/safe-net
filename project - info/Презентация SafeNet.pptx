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8"/>
    <p:restoredTop sz="94718"/>
  </p:normalViewPr>
  <p:slideViewPr>
    <p:cSldViewPr snapToGrid="0">
      <p:cViewPr varScale="1">
        <p:scale>
          <a:sx n="142" d="100"/>
          <a:sy n="142" d="100"/>
        </p:scale>
        <p:origin x="1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1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21" name="Уровень текста 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Текст заголовка</a:t>
            </a:r>
          </a:p>
        </p:txBody>
      </p:sp>
      <p:sp>
        <p:nvSpPr>
          <p:cNvPr id="3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39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4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5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Текст заголовка</a:t>
            </a:r>
          </a:p>
        </p:txBody>
      </p:sp>
      <p:sp>
        <p:nvSpPr>
          <p:cNvPr id="7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  <a:endParaRPr/>
          </a:p>
        </p:txBody>
      </p:sp>
      <p:sp>
        <p:nvSpPr>
          <p:cNvPr id="7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Текст заголовка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>
            <a:spLocks noGrp="1"/>
          </p:cNvSpPr>
          <p:nvPr>
            <p:ph type="title"/>
          </p:nvPr>
        </p:nvSpPr>
        <p:spPr>
          <a:xfrm>
            <a:off x="457200" y="2274206"/>
            <a:ext cx="8229600" cy="15681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 err="1"/>
              <a:t>Сайт-тренажёр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кибербезопасности</a:t>
            </a:r>
            <a:r>
              <a:rPr dirty="0"/>
              <a:t> «SafeNet»</a:t>
            </a:r>
          </a:p>
        </p:txBody>
      </p:sp>
      <p:sp>
        <p:nvSpPr>
          <p:cNvPr id="95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5924667" y="4390165"/>
            <a:ext cx="3150322" cy="2396430"/>
          </a:xfrm>
          <a:prstGeom prst="rect">
            <a:avLst/>
          </a:prstGeom>
        </p:spPr>
        <p:txBody>
          <a:bodyPr/>
          <a:lstStyle/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Участники:</a:t>
            </a: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 ученики класса 10-2 ГБОУ Школа № 1560 “Лидер”</a:t>
            </a:r>
            <a:endParaRPr sz="96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Волков Артем Александрович</a:t>
            </a:r>
            <a:endParaRPr sz="96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Савельев Роман Максимович</a:t>
            </a:r>
            <a:endParaRPr sz="96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Москвицов Александр Евгеньевич</a:t>
            </a:r>
            <a:endParaRPr sz="96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96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Руководитель:</a:t>
            </a: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педагог ГБОУ Школа № 1560 “Лидер”</a:t>
            </a:r>
            <a:endParaRPr sz="96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Шепилов Дмитрий Александрович</a:t>
            </a:r>
            <a:endParaRPr sz="960">
              <a:latin typeface="Times Roman"/>
              <a:ea typeface="Times Roman"/>
              <a:cs typeface="Times Roman"/>
              <a:sym typeface="Times Roman"/>
            </a:endParaRPr>
          </a:p>
        </p:txBody>
      </p:sp>
      <p:sp>
        <p:nvSpPr>
          <p:cNvPr id="96" name="Государственное бюджетное общеобразовательное учреждение города Москвы «Школа № 1560 “Лидер”»"/>
          <p:cNvSpPr txBox="1"/>
          <p:nvPr/>
        </p:nvSpPr>
        <p:spPr>
          <a:xfrm>
            <a:off x="700267" y="219248"/>
            <a:ext cx="77434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sz="1200" dirty="0" err="1"/>
              <a:t>Государственное</a:t>
            </a:r>
            <a:r>
              <a:rPr sz="1200" dirty="0"/>
              <a:t> </a:t>
            </a:r>
            <a:r>
              <a:rPr sz="1200" dirty="0" err="1"/>
              <a:t>бюджетное</a:t>
            </a:r>
            <a:r>
              <a:rPr sz="1200" dirty="0"/>
              <a:t> </a:t>
            </a:r>
            <a:r>
              <a:rPr sz="1200" dirty="0" err="1"/>
              <a:t>общеобразовательное</a:t>
            </a:r>
            <a:r>
              <a:rPr sz="1200" dirty="0"/>
              <a:t> </a:t>
            </a:r>
            <a:r>
              <a:rPr sz="1200" dirty="0" err="1"/>
              <a:t>учреждение</a:t>
            </a:r>
            <a:r>
              <a:rPr sz="1200" dirty="0"/>
              <a:t> </a:t>
            </a:r>
            <a:r>
              <a:rPr sz="1200" dirty="0" err="1"/>
              <a:t>города</a:t>
            </a:r>
            <a:r>
              <a:rPr sz="1200" dirty="0"/>
              <a:t> </a:t>
            </a:r>
            <a:r>
              <a:rPr sz="1200" dirty="0" err="1"/>
              <a:t>Москвы</a:t>
            </a:r>
            <a:r>
              <a:rPr sz="1200" dirty="0"/>
              <a:t> «</a:t>
            </a:r>
            <a:r>
              <a:rPr sz="1200" dirty="0" err="1"/>
              <a:t>Школа</a:t>
            </a:r>
            <a:r>
              <a:rPr sz="1200" dirty="0"/>
              <a:t> № 1560 “</a:t>
            </a:r>
            <a:r>
              <a:rPr sz="1200" dirty="0" err="1"/>
              <a:t>Лидер</a:t>
            </a:r>
            <a:r>
              <a:rPr sz="1200" dirty="0"/>
              <a:t>”»</a:t>
            </a:r>
            <a:endParaRPr sz="800" dirty="0">
              <a:latin typeface="Times Roman"/>
              <a:ea typeface="Times Roman"/>
              <a:cs typeface="Times Roman"/>
              <a:sym typeface="Times Roman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1"/>
          <p:cNvSpPr txBox="1">
            <a:spLocks noGrp="1"/>
          </p:cNvSpPr>
          <p:nvPr>
            <p:ph type="title"/>
          </p:nvPr>
        </p:nvSpPr>
        <p:spPr>
          <a:xfrm>
            <a:off x="457200" y="-182562"/>
            <a:ext cx="8229600" cy="1143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Введение</a:t>
            </a:r>
            <a:endParaRPr b="1" dirty="0"/>
          </a:p>
        </p:txBody>
      </p:sp>
      <p:sp>
        <p:nvSpPr>
          <p:cNvPr id="99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376518" y="5228333"/>
            <a:ext cx="8434194" cy="1876890"/>
          </a:xfrm>
          <a:prstGeom prst="rect">
            <a:avLst/>
          </a:prstGeom>
        </p:spPr>
        <p:txBody>
          <a:bodyPr/>
          <a:lstStyle>
            <a:lvl1pPr marL="0" indent="0" defTabSz="315468">
              <a:spcBef>
                <a:spcPts val="500"/>
              </a:spcBef>
              <a:buSzTx/>
              <a:buFontTx/>
              <a:buNone/>
              <a:defRPr sz="2208">
                <a:solidFill>
                  <a:srgbClr val="FFFFFF"/>
                </a:solidFill>
              </a:defRPr>
            </a:lvl1pPr>
          </a:lstStyle>
          <a:p>
            <a:r>
              <a:rPr b="1" dirty="0"/>
              <a:t>SafeNet</a:t>
            </a:r>
            <a:r>
              <a:rPr dirty="0"/>
              <a:t> — </a:t>
            </a:r>
            <a:r>
              <a:rPr sz="2000" dirty="0" err="1"/>
              <a:t>это</a:t>
            </a:r>
            <a:r>
              <a:rPr sz="2000" dirty="0"/>
              <a:t> </a:t>
            </a:r>
            <a:r>
              <a:rPr sz="2000" dirty="0" err="1"/>
              <a:t>веб-приложение-тренажёр</a:t>
            </a:r>
            <a:r>
              <a:rPr sz="2000" dirty="0"/>
              <a:t> </a:t>
            </a:r>
            <a:r>
              <a:rPr sz="2000" dirty="0" err="1"/>
              <a:t>по</a:t>
            </a:r>
            <a:r>
              <a:rPr sz="2000" dirty="0"/>
              <a:t> </a:t>
            </a:r>
            <a:r>
              <a:rPr sz="2000" dirty="0" err="1"/>
              <a:t>кибербезопасности</a:t>
            </a:r>
            <a:r>
              <a:rPr sz="2000" dirty="0"/>
              <a:t>. </a:t>
            </a:r>
            <a:r>
              <a:rPr sz="2000" dirty="0" err="1"/>
              <a:t>Проект</a:t>
            </a:r>
            <a:r>
              <a:rPr sz="2000" dirty="0"/>
              <a:t> </a:t>
            </a:r>
            <a:r>
              <a:rPr sz="2000" dirty="0" err="1"/>
              <a:t>создан</a:t>
            </a:r>
            <a:r>
              <a:rPr sz="2000" dirty="0"/>
              <a:t> </a:t>
            </a:r>
            <a:r>
              <a:rPr sz="2000" dirty="0" err="1"/>
              <a:t>для</a:t>
            </a:r>
            <a:r>
              <a:rPr sz="2000" dirty="0"/>
              <a:t> </a:t>
            </a:r>
            <a:r>
              <a:rPr sz="2000" dirty="0" err="1"/>
              <a:t>обучения</a:t>
            </a:r>
            <a:r>
              <a:rPr sz="2000" dirty="0"/>
              <a:t> </a:t>
            </a:r>
            <a:r>
              <a:rPr sz="2000" dirty="0" err="1"/>
              <a:t>школьников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обычных</a:t>
            </a:r>
            <a:r>
              <a:rPr sz="2000" dirty="0"/>
              <a:t> </a:t>
            </a:r>
            <a:r>
              <a:rPr sz="2000" dirty="0" err="1"/>
              <a:t>пользователей</a:t>
            </a:r>
            <a:r>
              <a:rPr sz="2000" dirty="0"/>
              <a:t> </a:t>
            </a:r>
            <a:r>
              <a:rPr sz="2000" dirty="0" err="1"/>
              <a:t>интернета</a:t>
            </a:r>
            <a:r>
              <a:rPr sz="2000" dirty="0"/>
              <a:t> </a:t>
            </a:r>
            <a:r>
              <a:rPr sz="2000" dirty="0" err="1"/>
              <a:t>распознаванию</a:t>
            </a:r>
            <a:r>
              <a:rPr sz="2000" dirty="0"/>
              <a:t> </a:t>
            </a:r>
            <a:r>
              <a:rPr sz="2000" dirty="0" err="1"/>
              <a:t>фишинга</a:t>
            </a:r>
            <a:r>
              <a:rPr sz="2000" dirty="0"/>
              <a:t>, </a:t>
            </a:r>
            <a:r>
              <a:rPr sz="2000" dirty="0" err="1"/>
              <a:t>поддельных</a:t>
            </a:r>
            <a:r>
              <a:rPr sz="2000" dirty="0"/>
              <a:t> </a:t>
            </a:r>
            <a:r>
              <a:rPr sz="2000" dirty="0" err="1"/>
              <a:t>сайтов</a:t>
            </a:r>
            <a:r>
              <a:rPr sz="2000" dirty="0"/>
              <a:t>, </a:t>
            </a:r>
            <a:r>
              <a:rPr sz="2000" dirty="0" err="1"/>
              <a:t>вредоносных</a:t>
            </a:r>
            <a:r>
              <a:rPr sz="2000" dirty="0"/>
              <a:t> </a:t>
            </a:r>
            <a:r>
              <a:rPr sz="2000" dirty="0" err="1"/>
              <a:t>сообщений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других</a:t>
            </a:r>
            <a:r>
              <a:rPr sz="2000" dirty="0"/>
              <a:t> </a:t>
            </a:r>
            <a:r>
              <a:rPr sz="2000" dirty="0" err="1"/>
              <a:t>онлайн-угроз</a:t>
            </a:r>
            <a:r>
              <a:rPr sz="2000" dirty="0"/>
              <a:t> </a:t>
            </a:r>
            <a:r>
              <a:rPr sz="2000" dirty="0" err="1"/>
              <a:t>через</a:t>
            </a:r>
            <a:r>
              <a:rPr sz="2000" dirty="0"/>
              <a:t> </a:t>
            </a:r>
            <a:r>
              <a:rPr sz="2000" dirty="0" err="1"/>
              <a:t>интерактивные</a:t>
            </a:r>
            <a:r>
              <a:rPr sz="2000" dirty="0"/>
              <a:t> </a:t>
            </a:r>
            <a:r>
              <a:rPr sz="2000" dirty="0" err="1"/>
              <a:t>задания</a:t>
            </a:r>
            <a:r>
              <a:rPr sz="2000" dirty="0"/>
              <a:t>.</a:t>
            </a:r>
            <a:endParaRPr dirty="0"/>
          </a:p>
        </p:txBody>
      </p:sp>
      <p:pic>
        <p:nvPicPr>
          <p:cNvPr id="100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18" y="797859"/>
            <a:ext cx="8434194" cy="44304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Актуальность</a:t>
            </a:r>
            <a:r>
              <a:rPr b="1" dirty="0"/>
              <a:t> </a:t>
            </a:r>
            <a:r>
              <a:rPr b="1" dirty="0" err="1"/>
              <a:t>проекта</a:t>
            </a:r>
            <a:endParaRPr b="1" dirty="0"/>
          </a:p>
        </p:txBody>
      </p:sp>
      <p:sp>
        <p:nvSpPr>
          <p:cNvPr id="103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383029" y="1542241"/>
            <a:ext cx="3341778" cy="437545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dirty="0" err="1"/>
              <a:t>Сегодня</a:t>
            </a:r>
            <a:r>
              <a:rPr dirty="0"/>
              <a:t> </a:t>
            </a:r>
            <a:r>
              <a:rPr dirty="0" err="1"/>
              <a:t>большая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 </a:t>
            </a:r>
            <a:r>
              <a:rPr dirty="0" err="1"/>
              <a:t>общения</a:t>
            </a:r>
            <a:r>
              <a:rPr dirty="0"/>
              <a:t>, </a:t>
            </a:r>
            <a:r>
              <a:rPr dirty="0" err="1"/>
              <a:t>учёбы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работы</a:t>
            </a:r>
            <a:r>
              <a:rPr dirty="0"/>
              <a:t> </a:t>
            </a:r>
            <a:r>
              <a:rPr dirty="0" err="1"/>
              <a:t>проходит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интернете</a:t>
            </a:r>
            <a:r>
              <a:rPr dirty="0"/>
              <a:t>.</a:t>
            </a:r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endParaRPr dirty="0"/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dirty="0" err="1"/>
              <a:t>Пользователи</a:t>
            </a:r>
            <a:r>
              <a:rPr dirty="0"/>
              <a:t> </a:t>
            </a:r>
            <a:r>
              <a:rPr dirty="0" err="1"/>
              <a:t>регулярно</a:t>
            </a:r>
            <a:r>
              <a:rPr dirty="0"/>
              <a:t> </a:t>
            </a:r>
            <a:r>
              <a:rPr dirty="0" err="1"/>
              <a:t>сталкиваются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киберугрозами</a:t>
            </a:r>
            <a:r>
              <a:rPr dirty="0"/>
              <a:t>:</a:t>
            </a:r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r>
              <a:rPr dirty="0" err="1"/>
              <a:t>фишинг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мошеннические</a:t>
            </a:r>
            <a:r>
              <a:rPr dirty="0"/>
              <a:t> </a:t>
            </a:r>
            <a:r>
              <a:rPr dirty="0" err="1"/>
              <a:t>письма</a:t>
            </a:r>
            <a:endParaRPr dirty="0"/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r>
              <a:rPr dirty="0" err="1"/>
              <a:t>поддельные</a:t>
            </a:r>
            <a:r>
              <a:rPr dirty="0"/>
              <a:t> </a:t>
            </a:r>
            <a:r>
              <a:rPr dirty="0" err="1"/>
              <a:t>сайты</a:t>
            </a:r>
            <a:endParaRPr dirty="0"/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r>
              <a:rPr dirty="0" err="1"/>
              <a:t>кража</a:t>
            </a:r>
            <a:r>
              <a:rPr dirty="0"/>
              <a:t> </a:t>
            </a:r>
            <a:r>
              <a:rPr dirty="0" err="1"/>
              <a:t>персональных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</p:txBody>
      </p:sp>
      <p:pic>
        <p:nvPicPr>
          <p:cNvPr id="104" name="вставленный-фильм.png" descr="вставленный-филь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6619" y="2020507"/>
            <a:ext cx="4462551" cy="2816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Постановка</a:t>
            </a:r>
            <a:r>
              <a:rPr b="1" dirty="0"/>
              <a:t> </a:t>
            </a:r>
            <a:r>
              <a:rPr b="1" dirty="0" err="1"/>
              <a:t>проблемы</a:t>
            </a:r>
            <a:endParaRPr b="1" dirty="0"/>
          </a:p>
        </p:txBody>
      </p:sp>
      <p:sp>
        <p:nvSpPr>
          <p:cNvPr id="107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334992" y="1587648"/>
            <a:ext cx="4506146" cy="4552893"/>
          </a:xfrm>
          <a:prstGeom prst="rect">
            <a:avLst/>
          </a:prstGeom>
        </p:spPr>
        <p:txBody>
          <a:bodyPr/>
          <a:lstStyle/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dirty="0" err="1"/>
              <a:t>Большинство</a:t>
            </a:r>
            <a:r>
              <a:rPr dirty="0"/>
              <a:t> </a:t>
            </a:r>
            <a:r>
              <a:rPr dirty="0" err="1"/>
              <a:t>обучающих</a:t>
            </a:r>
            <a:r>
              <a:rPr dirty="0"/>
              <a:t> </a:t>
            </a:r>
            <a:r>
              <a:rPr dirty="0" err="1"/>
              <a:t>материалов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кибербезопасности</a:t>
            </a:r>
            <a:r>
              <a:rPr dirty="0"/>
              <a:t> </a:t>
            </a:r>
            <a:r>
              <a:rPr dirty="0" err="1"/>
              <a:t>представляют</a:t>
            </a:r>
            <a:r>
              <a:rPr dirty="0"/>
              <a:t> </a:t>
            </a:r>
            <a:r>
              <a:rPr dirty="0" err="1"/>
              <a:t>собой</a:t>
            </a:r>
            <a:r>
              <a:rPr dirty="0"/>
              <a:t> </a:t>
            </a:r>
            <a:r>
              <a:rPr dirty="0" err="1"/>
              <a:t>теоретические</a:t>
            </a:r>
            <a:r>
              <a:rPr dirty="0"/>
              <a:t> </a:t>
            </a:r>
            <a:r>
              <a:rPr dirty="0" err="1"/>
              <a:t>тексты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тесты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практики</a:t>
            </a:r>
            <a:r>
              <a:rPr dirty="0"/>
              <a:t>.</a:t>
            </a:r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endParaRPr dirty="0"/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dirty="0" err="1"/>
              <a:t>Из-за</a:t>
            </a:r>
            <a:r>
              <a:rPr dirty="0"/>
              <a:t> </a:t>
            </a:r>
            <a:r>
              <a:rPr dirty="0" err="1"/>
              <a:t>этого</a:t>
            </a:r>
            <a:r>
              <a:rPr dirty="0"/>
              <a:t> </a:t>
            </a:r>
            <a:r>
              <a:rPr dirty="0" err="1"/>
              <a:t>знания</a:t>
            </a:r>
            <a:r>
              <a:rPr dirty="0"/>
              <a:t> </a:t>
            </a:r>
            <a:r>
              <a:rPr dirty="0" err="1"/>
              <a:t>быстро</a:t>
            </a:r>
            <a:r>
              <a:rPr dirty="0"/>
              <a:t> </a:t>
            </a:r>
            <a:r>
              <a:rPr dirty="0" err="1"/>
              <a:t>забываются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применяются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реальных</a:t>
            </a:r>
            <a:r>
              <a:rPr dirty="0"/>
              <a:t> </a:t>
            </a:r>
            <a:r>
              <a:rPr dirty="0" err="1"/>
              <a:t>ситуациях</a:t>
            </a:r>
            <a:r>
              <a:rPr dirty="0"/>
              <a:t>.</a:t>
            </a:r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endParaRPr dirty="0"/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dirty="0" err="1"/>
              <a:t>Необходим</a:t>
            </a:r>
            <a:r>
              <a:rPr dirty="0"/>
              <a:t> </a:t>
            </a:r>
            <a:r>
              <a:rPr dirty="0" err="1"/>
              <a:t>инструмент</a:t>
            </a:r>
            <a:r>
              <a:rPr dirty="0"/>
              <a:t>, </a:t>
            </a:r>
            <a:r>
              <a:rPr dirty="0" err="1"/>
              <a:t>который</a:t>
            </a:r>
            <a:r>
              <a:rPr dirty="0"/>
              <a:t> </a:t>
            </a:r>
            <a:r>
              <a:rPr dirty="0" err="1"/>
              <a:t>обучает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практику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реальные</a:t>
            </a:r>
            <a:r>
              <a:rPr dirty="0"/>
              <a:t> </a:t>
            </a:r>
            <a:r>
              <a:rPr dirty="0" err="1"/>
              <a:t>примеры</a:t>
            </a:r>
            <a:r>
              <a:rPr dirty="0"/>
              <a:t>.</a:t>
            </a:r>
          </a:p>
        </p:txBody>
      </p:sp>
      <p:pic>
        <p:nvPicPr>
          <p:cNvPr id="108" name="Снимок экрана 2026-01-21 в 19.29.40.png" descr="Снимок экрана 2026-01-21 в 19.29.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218" y="1531667"/>
            <a:ext cx="3502226" cy="455289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Цель</a:t>
            </a:r>
            <a:r>
              <a:rPr b="1" dirty="0"/>
              <a:t> </a:t>
            </a:r>
            <a:r>
              <a:rPr b="1" dirty="0" err="1"/>
              <a:t>и</a:t>
            </a:r>
            <a:r>
              <a:rPr b="1" dirty="0"/>
              <a:t> </a:t>
            </a:r>
            <a:r>
              <a:rPr b="1" dirty="0" err="1"/>
              <a:t>задачи</a:t>
            </a:r>
            <a:r>
              <a:rPr b="1" dirty="0"/>
              <a:t> </a:t>
            </a:r>
            <a:r>
              <a:rPr b="1" dirty="0" err="1"/>
              <a:t>проекта</a:t>
            </a:r>
            <a:endParaRPr b="1" dirty="0"/>
          </a:p>
        </p:txBody>
      </p:sp>
      <p:sp>
        <p:nvSpPr>
          <p:cNvPr id="11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b="1" dirty="0" err="1"/>
              <a:t>Цель</a:t>
            </a:r>
            <a:r>
              <a:rPr b="1" dirty="0"/>
              <a:t> </a:t>
            </a:r>
            <a:r>
              <a:rPr b="1" dirty="0" err="1"/>
              <a:t>проекта</a:t>
            </a:r>
            <a:r>
              <a:rPr b="1" dirty="0"/>
              <a:t>:</a:t>
            </a:r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dirty="0" err="1"/>
              <a:t>Создать</a:t>
            </a:r>
            <a:r>
              <a:rPr dirty="0"/>
              <a:t> </a:t>
            </a:r>
            <a:r>
              <a:rPr dirty="0" err="1"/>
              <a:t>интерактивный</a:t>
            </a:r>
            <a:r>
              <a:rPr dirty="0"/>
              <a:t> </a:t>
            </a:r>
            <a:r>
              <a:rPr dirty="0" err="1"/>
              <a:t>веб-тренажёр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кибербезопасности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сохранением</a:t>
            </a:r>
            <a:r>
              <a:rPr dirty="0"/>
              <a:t> </a:t>
            </a:r>
            <a:r>
              <a:rPr dirty="0" err="1"/>
              <a:t>прогресса</a:t>
            </a:r>
            <a:r>
              <a:rPr dirty="0"/>
              <a:t> </a:t>
            </a:r>
            <a:r>
              <a:rPr dirty="0" err="1"/>
              <a:t>пользователей</a:t>
            </a:r>
            <a:r>
              <a:rPr dirty="0"/>
              <a:t>.</a:t>
            </a:r>
          </a:p>
          <a:p>
            <a:pPr marL="277749" indent="-277749" defTabSz="370331">
              <a:spcBef>
                <a:spcPts val="600"/>
              </a:spcBef>
              <a:defRPr sz="2592">
                <a:solidFill>
                  <a:srgbClr val="FFFFFF"/>
                </a:solidFill>
              </a:defRPr>
            </a:pPr>
            <a:endParaRPr dirty="0"/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b="1" dirty="0" err="1"/>
              <a:t>Основные</a:t>
            </a:r>
            <a:r>
              <a:rPr b="1" dirty="0"/>
              <a:t> </a:t>
            </a:r>
            <a:r>
              <a:rPr b="1" dirty="0" err="1"/>
              <a:t>задачи</a:t>
            </a:r>
            <a:r>
              <a:rPr b="1" dirty="0"/>
              <a:t>: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разработать</a:t>
            </a:r>
            <a:r>
              <a:rPr dirty="0"/>
              <a:t> </a:t>
            </a:r>
            <a:r>
              <a:rPr dirty="0" err="1"/>
              <a:t>архитектуру</a:t>
            </a:r>
            <a:r>
              <a:rPr dirty="0"/>
              <a:t> </a:t>
            </a:r>
            <a:r>
              <a:rPr dirty="0" err="1"/>
              <a:t>приложения</a:t>
            </a:r>
            <a:endParaRPr dirty="0"/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создать</a:t>
            </a:r>
            <a:r>
              <a:rPr dirty="0"/>
              <a:t> frontend </a:t>
            </a:r>
            <a:r>
              <a:rPr dirty="0" err="1"/>
              <a:t>и</a:t>
            </a:r>
            <a:r>
              <a:rPr dirty="0"/>
              <a:t> backend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реализовать</a:t>
            </a:r>
            <a:r>
              <a:rPr dirty="0"/>
              <a:t> </a:t>
            </a:r>
            <a:r>
              <a:rPr dirty="0" err="1"/>
              <a:t>систему</a:t>
            </a:r>
            <a:r>
              <a:rPr dirty="0"/>
              <a:t> </a:t>
            </a:r>
            <a:r>
              <a:rPr dirty="0" err="1"/>
              <a:t>уровней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тестов</a:t>
            </a:r>
            <a:endParaRPr dirty="0"/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провести</a:t>
            </a:r>
            <a:r>
              <a:rPr dirty="0"/>
              <a:t> </a:t>
            </a:r>
            <a:r>
              <a:rPr dirty="0" err="1"/>
              <a:t>тестирование</a:t>
            </a:r>
            <a:r>
              <a:rPr dirty="0"/>
              <a:t> </a:t>
            </a:r>
            <a:r>
              <a:rPr dirty="0" err="1"/>
              <a:t>среди</a:t>
            </a:r>
            <a:r>
              <a:rPr dirty="0"/>
              <a:t> </a:t>
            </a:r>
            <a:r>
              <a:rPr dirty="0" err="1"/>
              <a:t>школьников</a:t>
            </a:r>
            <a:endParaRPr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Этапы</a:t>
            </a:r>
            <a:r>
              <a:rPr b="1" dirty="0"/>
              <a:t> </a:t>
            </a:r>
            <a:r>
              <a:rPr b="1" dirty="0" err="1"/>
              <a:t>выполнения</a:t>
            </a:r>
            <a:r>
              <a:rPr b="1" dirty="0"/>
              <a:t> </a:t>
            </a:r>
            <a:r>
              <a:rPr b="1" dirty="0" err="1"/>
              <a:t>работы</a:t>
            </a:r>
            <a:endParaRPr b="1" dirty="0"/>
          </a:p>
        </p:txBody>
      </p:sp>
      <p:sp>
        <p:nvSpPr>
          <p:cNvPr id="114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sz="2800" dirty="0"/>
              <a:t>1. </a:t>
            </a:r>
            <a:r>
              <a:rPr sz="2800" dirty="0" err="1"/>
              <a:t>Анализ</a:t>
            </a:r>
            <a:r>
              <a:rPr sz="2800" dirty="0"/>
              <a:t> </a:t>
            </a:r>
            <a:r>
              <a:rPr sz="2800" dirty="0" err="1"/>
              <a:t>существующих</a:t>
            </a:r>
            <a:r>
              <a:rPr sz="2800" dirty="0"/>
              <a:t> </a:t>
            </a:r>
            <a:r>
              <a:rPr sz="2800" dirty="0" err="1"/>
              <a:t>обучающих</a:t>
            </a:r>
            <a:r>
              <a:rPr sz="2800" dirty="0"/>
              <a:t> </a:t>
            </a:r>
            <a:r>
              <a:rPr sz="2800" dirty="0" err="1"/>
              <a:t>платформ</a:t>
            </a:r>
            <a:endParaRPr sz="2800" dirty="0"/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sz="2800" dirty="0"/>
              <a:t>2. </a:t>
            </a:r>
            <a:r>
              <a:rPr sz="2800" dirty="0" err="1"/>
              <a:t>Проектирование</a:t>
            </a:r>
            <a:r>
              <a:rPr sz="2800" dirty="0"/>
              <a:t> </a:t>
            </a:r>
            <a:r>
              <a:rPr sz="2800" dirty="0" err="1"/>
              <a:t>структуры</a:t>
            </a:r>
            <a:r>
              <a:rPr sz="2800" dirty="0"/>
              <a:t> </a:t>
            </a:r>
            <a:r>
              <a:rPr sz="2800" dirty="0" err="1"/>
              <a:t>приложения</a:t>
            </a:r>
            <a:r>
              <a:rPr sz="2800" dirty="0"/>
              <a:t> </a:t>
            </a:r>
            <a:r>
              <a:rPr sz="2800" dirty="0" err="1"/>
              <a:t>и</a:t>
            </a:r>
            <a:r>
              <a:rPr sz="2800" dirty="0"/>
              <a:t> </a:t>
            </a:r>
            <a:r>
              <a:rPr sz="2800" dirty="0" err="1"/>
              <a:t>интерфейса</a:t>
            </a:r>
            <a:endParaRPr sz="2800" dirty="0"/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sz="2800" dirty="0"/>
              <a:t>3. </a:t>
            </a:r>
            <a:r>
              <a:rPr sz="2800" dirty="0" err="1"/>
              <a:t>Разработка</a:t>
            </a:r>
            <a:r>
              <a:rPr sz="2800" dirty="0"/>
              <a:t> backend </a:t>
            </a:r>
            <a:r>
              <a:rPr sz="2800" dirty="0" err="1"/>
              <a:t>на</a:t>
            </a:r>
            <a:r>
              <a:rPr sz="2800" dirty="0"/>
              <a:t> </a:t>
            </a:r>
            <a:r>
              <a:rPr sz="2800" dirty="0" err="1"/>
              <a:t>NextJS</a:t>
            </a:r>
            <a:r>
              <a:rPr sz="2800" dirty="0"/>
              <a:t> </a:t>
            </a:r>
            <a:r>
              <a:rPr sz="2800" dirty="0" err="1"/>
              <a:t>и</a:t>
            </a:r>
            <a:r>
              <a:rPr sz="2800" dirty="0"/>
              <a:t> PostgreSQL</a:t>
            </a:r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sz="2800" dirty="0"/>
              <a:t>4. </a:t>
            </a:r>
            <a:r>
              <a:rPr sz="2800" dirty="0" err="1"/>
              <a:t>Разработка</a:t>
            </a:r>
            <a:r>
              <a:rPr sz="2800" dirty="0"/>
              <a:t> frontend </a:t>
            </a:r>
            <a:r>
              <a:rPr sz="2800" dirty="0" err="1"/>
              <a:t>с</a:t>
            </a:r>
            <a:r>
              <a:rPr sz="2800" dirty="0"/>
              <a:t> </a:t>
            </a:r>
            <a:r>
              <a:rPr sz="2800" dirty="0" err="1"/>
              <a:t>системой</a:t>
            </a:r>
            <a:r>
              <a:rPr sz="2800" dirty="0"/>
              <a:t> </a:t>
            </a:r>
            <a:r>
              <a:rPr sz="2800" dirty="0" err="1"/>
              <a:t>курсов</a:t>
            </a:r>
            <a:r>
              <a:rPr sz="2800" dirty="0"/>
              <a:t> </a:t>
            </a:r>
            <a:r>
              <a:rPr sz="2800" dirty="0" err="1"/>
              <a:t>и</a:t>
            </a:r>
            <a:r>
              <a:rPr sz="2800" dirty="0"/>
              <a:t> </a:t>
            </a:r>
            <a:r>
              <a:rPr sz="2800" dirty="0" err="1"/>
              <a:t>заданий</a:t>
            </a:r>
            <a:endParaRPr sz="2800" dirty="0"/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sz="2800" dirty="0"/>
              <a:t>5. </a:t>
            </a:r>
            <a:r>
              <a:rPr sz="2800" dirty="0" err="1"/>
              <a:t>Интеграция</a:t>
            </a:r>
            <a:r>
              <a:rPr sz="2800" dirty="0"/>
              <a:t> </a:t>
            </a:r>
            <a:r>
              <a:rPr sz="2800" dirty="0" err="1"/>
              <a:t>базы</a:t>
            </a:r>
            <a:r>
              <a:rPr sz="2800" dirty="0"/>
              <a:t> </a:t>
            </a:r>
            <a:r>
              <a:rPr sz="2800" dirty="0" err="1"/>
              <a:t>данных</a:t>
            </a:r>
            <a:r>
              <a:rPr sz="2800" dirty="0"/>
              <a:t> </a:t>
            </a:r>
            <a:r>
              <a:rPr sz="2800" dirty="0" err="1"/>
              <a:t>и</a:t>
            </a:r>
            <a:r>
              <a:rPr sz="2800" dirty="0"/>
              <a:t> </a:t>
            </a:r>
            <a:r>
              <a:rPr sz="2800" dirty="0" err="1"/>
              <a:t>авторизации</a:t>
            </a:r>
            <a:endParaRPr sz="2800" dirty="0"/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sz="2800" dirty="0"/>
              <a:t>6. </a:t>
            </a:r>
            <a:r>
              <a:rPr sz="2800" dirty="0" err="1"/>
              <a:t>Тестирование</a:t>
            </a:r>
            <a:r>
              <a:rPr sz="2800" dirty="0"/>
              <a:t> </a:t>
            </a:r>
            <a:r>
              <a:rPr sz="2800" dirty="0" err="1"/>
              <a:t>и</a:t>
            </a:r>
            <a:r>
              <a:rPr sz="2800" dirty="0"/>
              <a:t> </a:t>
            </a:r>
            <a:r>
              <a:rPr sz="2800" dirty="0" err="1"/>
              <a:t>апробация</a:t>
            </a:r>
            <a:endParaRPr sz="280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Используемые</a:t>
            </a:r>
            <a:r>
              <a:rPr b="1" dirty="0"/>
              <a:t> </a:t>
            </a:r>
            <a:r>
              <a:rPr b="1" dirty="0" err="1"/>
              <a:t>технологии</a:t>
            </a:r>
            <a:endParaRPr b="1" dirty="0"/>
          </a:p>
        </p:txBody>
      </p:sp>
      <p:sp>
        <p:nvSpPr>
          <p:cNvPr id="117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184030" y="1628646"/>
            <a:ext cx="4497497" cy="419559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 err="1"/>
              <a:t>NextJS</a:t>
            </a:r>
            <a:r>
              <a:rPr lang="en-US" dirty="0"/>
              <a:t> — </a:t>
            </a:r>
            <a:r>
              <a:rPr lang="ru-RU" dirty="0"/>
              <a:t>разработка</a:t>
            </a:r>
            <a:r>
              <a:rPr lang="en-US" dirty="0"/>
              <a:t> frontend</a:t>
            </a:r>
            <a:endParaRPr lang="ru-RU" dirty="0"/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 err="1"/>
              <a:t>NestJS</a:t>
            </a:r>
            <a:r>
              <a:rPr lang="en-US" dirty="0"/>
              <a:t> — </a:t>
            </a:r>
            <a:r>
              <a:rPr lang="ru-RU" dirty="0"/>
              <a:t>разработка </a:t>
            </a:r>
            <a:r>
              <a:rPr lang="en-US" dirty="0"/>
              <a:t>backend</a:t>
            </a:r>
            <a:endParaRPr dirty="0"/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u="sng" dirty="0"/>
              <a:t>PostgreSQL</a:t>
            </a:r>
            <a:r>
              <a:rPr dirty="0"/>
              <a:t> — </a:t>
            </a:r>
            <a:r>
              <a:rPr dirty="0" err="1"/>
              <a:t>хранение</a:t>
            </a:r>
            <a:r>
              <a:rPr dirty="0"/>
              <a:t>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пользователей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результатов</a:t>
            </a:r>
            <a:endParaRPr dirty="0"/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u="sng" dirty="0"/>
              <a:t>REST API</a:t>
            </a:r>
            <a:r>
              <a:rPr dirty="0"/>
              <a:t> — </a:t>
            </a:r>
            <a:r>
              <a:rPr dirty="0" err="1"/>
              <a:t>взаимодействие</a:t>
            </a:r>
            <a:r>
              <a:rPr dirty="0"/>
              <a:t> </a:t>
            </a:r>
            <a:r>
              <a:rPr dirty="0" err="1"/>
              <a:t>между</a:t>
            </a:r>
            <a:r>
              <a:rPr dirty="0"/>
              <a:t> </a:t>
            </a:r>
            <a:r>
              <a:rPr dirty="0" err="1"/>
              <a:t>компонентами</a:t>
            </a:r>
            <a:endParaRPr dirty="0"/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/>
              <a:t>Node.js</a:t>
            </a:r>
            <a:r>
              <a:rPr lang="en-US" dirty="0"/>
              <a:t> </a:t>
            </a:r>
            <a:r>
              <a:rPr dirty="0"/>
              <a:t>— </a:t>
            </a:r>
            <a:r>
              <a:rPr dirty="0" err="1"/>
              <a:t>серверная</a:t>
            </a:r>
            <a:r>
              <a:rPr dirty="0"/>
              <a:t> </a:t>
            </a:r>
            <a:r>
              <a:rPr dirty="0" err="1"/>
              <a:t>логика</a:t>
            </a:r>
            <a:endParaRPr dirty="0"/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u="sng" dirty="0"/>
              <a:t>Visual Studio Code</a:t>
            </a:r>
            <a:r>
              <a:rPr dirty="0"/>
              <a:t> — </a:t>
            </a:r>
            <a:r>
              <a:rPr dirty="0" err="1"/>
              <a:t>среда</a:t>
            </a:r>
            <a:r>
              <a:rPr dirty="0"/>
              <a:t> </a:t>
            </a:r>
            <a:r>
              <a:rPr dirty="0" err="1"/>
              <a:t>разработки</a:t>
            </a:r>
            <a:endParaRPr dirty="0"/>
          </a:p>
        </p:txBody>
      </p:sp>
      <p:pic>
        <p:nvPicPr>
          <p:cNvPr id="118" name="вставленный-фильм.png" descr="вставленный-филь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417" y="1287962"/>
            <a:ext cx="1767265" cy="1767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вставленный-фильм.png" descr="вставленный-филь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417" y="3174073"/>
            <a:ext cx="1767265" cy="1767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вставленный-фильм.png" descr="вставленный-филь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232" y="4961377"/>
            <a:ext cx="1793774" cy="17672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вставленный-фильм.png" descr="вставленный-фильм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0572" y="1287962"/>
            <a:ext cx="1767265" cy="1767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вставленный-фильм.png" descr="вставленный-фильм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0572" y="3174073"/>
            <a:ext cx="1767265" cy="176726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2"/>
          <p:cNvSpPr txBox="1"/>
          <p:nvPr/>
        </p:nvSpPr>
        <p:spPr>
          <a:xfrm>
            <a:off x="445410" y="29904"/>
            <a:ext cx="8253180" cy="14465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4400"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Функциональные</a:t>
            </a:r>
            <a:r>
              <a:rPr b="1" dirty="0"/>
              <a:t> </a:t>
            </a:r>
            <a:r>
              <a:rPr b="1" dirty="0" err="1"/>
              <a:t>возможности</a:t>
            </a:r>
            <a:r>
              <a:rPr b="1" dirty="0"/>
              <a:t> SafeNet</a:t>
            </a:r>
          </a:p>
        </p:txBody>
      </p:sp>
      <p:sp>
        <p:nvSpPr>
          <p:cNvPr id="125" name="TextBox 3"/>
          <p:cNvSpPr txBox="1"/>
          <p:nvPr/>
        </p:nvSpPr>
        <p:spPr>
          <a:xfrm>
            <a:off x="286077" y="1877208"/>
            <a:ext cx="3667357" cy="3631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2100">
                <a:solidFill>
                  <a:srgbClr val="FFFFFF"/>
                </a:solidFill>
              </a:defRPr>
            </a:pPr>
            <a:r>
              <a:rPr b="1" dirty="0" err="1"/>
              <a:t>Приложение</a:t>
            </a:r>
            <a:r>
              <a:rPr b="1" dirty="0"/>
              <a:t> </a:t>
            </a:r>
            <a:r>
              <a:rPr b="1" dirty="0" err="1"/>
              <a:t>предоставляет</a:t>
            </a:r>
            <a:r>
              <a:rPr b="1" dirty="0"/>
              <a:t> </a:t>
            </a:r>
            <a:r>
              <a:rPr b="1" dirty="0" err="1"/>
              <a:t>пользователю</a:t>
            </a:r>
            <a:r>
              <a:rPr b="1" dirty="0"/>
              <a:t>:</a:t>
            </a:r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регистрацию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авторизацию</a:t>
            </a:r>
            <a:endParaRPr sz="2000" dirty="0"/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обучающие</a:t>
            </a:r>
            <a:r>
              <a:rPr sz="2000" dirty="0"/>
              <a:t> </a:t>
            </a:r>
            <a:r>
              <a:rPr sz="2000" dirty="0" err="1"/>
              <a:t>курсы</a:t>
            </a:r>
            <a:r>
              <a:rPr sz="2000" dirty="0"/>
              <a:t> </a:t>
            </a:r>
            <a:r>
              <a:rPr sz="2000" dirty="0" err="1"/>
              <a:t>по</a:t>
            </a:r>
            <a:r>
              <a:rPr sz="2000" dirty="0"/>
              <a:t> </a:t>
            </a:r>
            <a:r>
              <a:rPr sz="2000" dirty="0" err="1"/>
              <a:t>кибербезопасности</a:t>
            </a:r>
            <a:endParaRPr sz="2000" dirty="0"/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интерактивные</a:t>
            </a:r>
            <a:r>
              <a:rPr sz="2000" dirty="0"/>
              <a:t> </a:t>
            </a:r>
            <a:r>
              <a:rPr sz="2000" dirty="0" err="1"/>
              <a:t>задания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тесты</a:t>
            </a:r>
            <a:endParaRPr sz="2000" dirty="0"/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систему</a:t>
            </a:r>
            <a:r>
              <a:rPr sz="2000" dirty="0"/>
              <a:t> </a:t>
            </a:r>
            <a:r>
              <a:rPr sz="2000" dirty="0" err="1"/>
              <a:t>баллов</a:t>
            </a:r>
            <a:r>
              <a:rPr sz="2000" dirty="0"/>
              <a:t>, </a:t>
            </a:r>
            <a:r>
              <a:rPr sz="2000" dirty="0" err="1"/>
              <a:t>уровней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достижений</a:t>
            </a:r>
            <a:endParaRPr sz="2000" dirty="0"/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sz="2000" dirty="0"/>
              <a:t>• </a:t>
            </a:r>
            <a:r>
              <a:rPr sz="2000" dirty="0" err="1"/>
              <a:t>сохранение</a:t>
            </a:r>
            <a:r>
              <a:rPr sz="2000" dirty="0"/>
              <a:t> </a:t>
            </a:r>
            <a:r>
              <a:rPr sz="2000" dirty="0" err="1"/>
              <a:t>статистики</a:t>
            </a:r>
            <a:r>
              <a:rPr sz="2000" dirty="0"/>
              <a:t> </a:t>
            </a:r>
            <a:r>
              <a:rPr sz="2000" dirty="0" err="1"/>
              <a:t>и</a:t>
            </a:r>
            <a:r>
              <a:rPr sz="2000" dirty="0"/>
              <a:t> </a:t>
            </a:r>
            <a:r>
              <a:rPr sz="2000" dirty="0" err="1"/>
              <a:t>прогресса</a:t>
            </a:r>
            <a:endParaRPr sz="2000" dirty="0"/>
          </a:p>
        </p:txBody>
      </p:sp>
      <p:pic>
        <p:nvPicPr>
          <p:cNvPr id="126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523" y="1420084"/>
            <a:ext cx="4498130" cy="25719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CleanShot 2026-01-19 at 15.03.26@2x.png" descr="CleanShot 2026-01-19 at 15.03.26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83" y="4128744"/>
            <a:ext cx="4508210" cy="25719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Преимущества</a:t>
            </a:r>
            <a:r>
              <a:rPr b="1" dirty="0"/>
              <a:t> </a:t>
            </a:r>
            <a:r>
              <a:rPr b="1" dirty="0" err="1"/>
              <a:t>проекта</a:t>
            </a:r>
            <a:endParaRPr b="1" dirty="0"/>
          </a:p>
        </p:txBody>
      </p:sp>
      <p:sp>
        <p:nvSpPr>
          <p:cNvPr id="130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277483" y="1641282"/>
            <a:ext cx="4071792" cy="4556768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dirty="0" err="1"/>
              <a:t>обучение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игровой</a:t>
            </a:r>
            <a:r>
              <a:rPr dirty="0"/>
              <a:t> </a:t>
            </a:r>
            <a:r>
              <a:rPr dirty="0" err="1"/>
              <a:t>форме</a:t>
            </a:r>
            <a:endParaRPr dirty="0"/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dirty="0" err="1"/>
              <a:t>практические</a:t>
            </a:r>
            <a:r>
              <a:rPr dirty="0"/>
              <a:t> </a:t>
            </a:r>
            <a:r>
              <a:rPr sz="2400" dirty="0" err="1"/>
              <a:t>задания</a:t>
            </a:r>
            <a:r>
              <a:rPr dirty="0"/>
              <a:t>, </a:t>
            </a:r>
            <a:r>
              <a:rPr dirty="0" err="1"/>
              <a:t>приближенные</a:t>
            </a:r>
            <a:r>
              <a:rPr dirty="0"/>
              <a:t> </a:t>
            </a:r>
            <a:r>
              <a:rPr dirty="0" err="1"/>
              <a:t>к</a:t>
            </a:r>
            <a:r>
              <a:rPr dirty="0"/>
              <a:t> </a:t>
            </a:r>
            <a:r>
              <a:rPr dirty="0" err="1"/>
              <a:t>реальным</a:t>
            </a:r>
            <a:r>
              <a:rPr dirty="0"/>
              <a:t> </a:t>
            </a:r>
            <a:r>
              <a:rPr dirty="0" err="1"/>
              <a:t>ситуациям</a:t>
            </a:r>
            <a:endParaRPr dirty="0"/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dirty="0" err="1"/>
              <a:t>понятный</a:t>
            </a:r>
            <a:r>
              <a:rPr dirty="0"/>
              <a:t> </a:t>
            </a:r>
            <a:r>
              <a:rPr dirty="0" err="1"/>
              <a:t>интерфейс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школьников</a:t>
            </a:r>
            <a:endParaRPr dirty="0"/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dirty="0" err="1"/>
              <a:t>сохранение</a:t>
            </a:r>
            <a:r>
              <a:rPr dirty="0"/>
              <a:t> </a:t>
            </a:r>
            <a:r>
              <a:rPr dirty="0" err="1"/>
              <a:t>прогресса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результатов</a:t>
            </a:r>
            <a:endParaRPr dirty="0"/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dirty="0" err="1"/>
              <a:t>возможность</a:t>
            </a:r>
            <a:r>
              <a:rPr dirty="0"/>
              <a:t> </a:t>
            </a:r>
            <a:r>
              <a:rPr dirty="0" err="1"/>
              <a:t>дальнейшего</a:t>
            </a:r>
            <a:r>
              <a:rPr dirty="0"/>
              <a:t> </a:t>
            </a:r>
            <a:r>
              <a:rPr dirty="0" err="1"/>
              <a:t>расширения</a:t>
            </a:r>
            <a:endParaRPr dirty="0"/>
          </a:p>
        </p:txBody>
      </p:sp>
      <p:pic>
        <p:nvPicPr>
          <p:cNvPr id="131" name="CleanShot 2026-01-19 at 15.04.49@2x.png" descr="CleanShot 2026-01-19 at 15.04.49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007" y="1432306"/>
            <a:ext cx="4218930" cy="241278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2" name="CleanShot 2026-01-19 at 15.04.10@2x.png" descr="CleanShot 2026-01-19 at 15.04.10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152" y="4126496"/>
            <a:ext cx="4216641" cy="24127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Выводы</a:t>
            </a:r>
            <a:r>
              <a:rPr b="1" dirty="0"/>
              <a:t> </a:t>
            </a:r>
            <a:r>
              <a:rPr b="1" dirty="0" err="1"/>
              <a:t>и</a:t>
            </a:r>
            <a:r>
              <a:rPr b="1" dirty="0"/>
              <a:t> </a:t>
            </a:r>
            <a:r>
              <a:rPr b="1" dirty="0" err="1"/>
              <a:t>перспективы</a:t>
            </a:r>
            <a:r>
              <a:rPr b="1" dirty="0"/>
              <a:t> </a:t>
            </a:r>
            <a:r>
              <a:rPr b="1" dirty="0" err="1"/>
              <a:t>развития</a:t>
            </a:r>
            <a:endParaRPr b="1" dirty="0"/>
          </a:p>
        </p:txBody>
      </p:sp>
      <p:sp>
        <p:nvSpPr>
          <p:cNvPr id="13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ходе</a:t>
            </a:r>
            <a:r>
              <a:rPr dirty="0"/>
              <a:t> </a:t>
            </a:r>
            <a:r>
              <a:rPr dirty="0" err="1"/>
              <a:t>проекта</a:t>
            </a:r>
            <a:r>
              <a:rPr dirty="0"/>
              <a:t> </a:t>
            </a:r>
            <a:r>
              <a:rPr dirty="0" err="1"/>
              <a:t>был</a:t>
            </a:r>
            <a:r>
              <a:rPr dirty="0"/>
              <a:t> </a:t>
            </a:r>
            <a:r>
              <a:rPr dirty="0" err="1"/>
              <a:t>создан</a:t>
            </a:r>
            <a:r>
              <a:rPr dirty="0"/>
              <a:t> </a:t>
            </a:r>
            <a:r>
              <a:rPr dirty="0" err="1"/>
              <a:t>работающий</a:t>
            </a:r>
            <a:r>
              <a:rPr dirty="0"/>
              <a:t> </a:t>
            </a:r>
            <a:r>
              <a:rPr dirty="0" err="1"/>
              <a:t>веб-тренажёр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кибербезопасности</a:t>
            </a:r>
            <a:r>
              <a:rPr dirty="0"/>
              <a:t>.</a:t>
            </a:r>
          </a:p>
          <a:p>
            <a:pPr marL="277749" indent="-277749" defTabSz="370331">
              <a:spcBef>
                <a:spcPts val="600"/>
              </a:spcBef>
              <a:defRPr sz="2592">
                <a:solidFill>
                  <a:srgbClr val="FFFFFF"/>
                </a:solidFill>
              </a:defRPr>
            </a:pPr>
            <a:endParaRPr dirty="0"/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dirty="0" err="1"/>
              <a:t>Проект</a:t>
            </a:r>
            <a:r>
              <a:rPr dirty="0"/>
              <a:t> </a:t>
            </a:r>
            <a:r>
              <a:rPr dirty="0" err="1"/>
              <a:t>показал</a:t>
            </a:r>
            <a:r>
              <a:rPr dirty="0"/>
              <a:t> </a:t>
            </a:r>
            <a:r>
              <a:rPr dirty="0" err="1"/>
              <a:t>эффективность</a:t>
            </a:r>
            <a:r>
              <a:rPr dirty="0"/>
              <a:t> </a:t>
            </a:r>
            <a:r>
              <a:rPr dirty="0" err="1"/>
              <a:t>игрового</a:t>
            </a:r>
            <a:r>
              <a:rPr dirty="0"/>
              <a:t> </a:t>
            </a:r>
            <a:r>
              <a:rPr dirty="0" err="1"/>
              <a:t>подхода</a:t>
            </a:r>
            <a:r>
              <a:rPr dirty="0"/>
              <a:t> </a:t>
            </a:r>
            <a:r>
              <a:rPr dirty="0" err="1"/>
              <a:t>к</a:t>
            </a:r>
            <a:r>
              <a:rPr dirty="0"/>
              <a:t> </a:t>
            </a:r>
            <a:r>
              <a:rPr dirty="0" err="1"/>
              <a:t>обучению</a:t>
            </a:r>
            <a:r>
              <a:rPr dirty="0"/>
              <a:t> </a:t>
            </a:r>
            <a:r>
              <a:rPr dirty="0" err="1"/>
              <a:t>цифровой</a:t>
            </a:r>
            <a:r>
              <a:rPr dirty="0"/>
              <a:t> </a:t>
            </a:r>
            <a:r>
              <a:rPr dirty="0" err="1"/>
              <a:t>грамотности</a:t>
            </a:r>
            <a:r>
              <a:rPr dirty="0"/>
              <a:t>.</a:t>
            </a:r>
          </a:p>
          <a:p>
            <a:pPr marL="277749" indent="-277749" defTabSz="370331">
              <a:spcBef>
                <a:spcPts val="600"/>
              </a:spcBef>
              <a:defRPr sz="2592">
                <a:solidFill>
                  <a:srgbClr val="FFFFFF"/>
                </a:solidFill>
              </a:defRPr>
            </a:pPr>
            <a:endParaRPr dirty="0"/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b="1" dirty="0" err="1"/>
              <a:t>В</a:t>
            </a:r>
            <a:r>
              <a:rPr b="1" dirty="0"/>
              <a:t> </a:t>
            </a:r>
            <a:r>
              <a:rPr b="1" dirty="0" err="1"/>
              <a:t>дальнейшем</a:t>
            </a:r>
            <a:r>
              <a:rPr b="1" dirty="0"/>
              <a:t> </a:t>
            </a:r>
            <a:r>
              <a:rPr b="1" dirty="0" err="1"/>
              <a:t>планируется</a:t>
            </a:r>
            <a:r>
              <a:rPr b="1" dirty="0"/>
              <a:t>: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добавление</a:t>
            </a:r>
            <a:r>
              <a:rPr dirty="0"/>
              <a:t> </a:t>
            </a:r>
            <a:r>
              <a:rPr dirty="0" err="1"/>
              <a:t>новых</a:t>
            </a:r>
            <a:r>
              <a:rPr dirty="0"/>
              <a:t> </a:t>
            </a:r>
            <a:r>
              <a:rPr dirty="0" err="1"/>
              <a:t>сценариев</a:t>
            </a:r>
            <a:r>
              <a:rPr dirty="0"/>
              <a:t> </a:t>
            </a:r>
            <a:r>
              <a:rPr dirty="0" err="1"/>
              <a:t>угроз</a:t>
            </a:r>
            <a:endParaRPr dirty="0"/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расширение</a:t>
            </a:r>
            <a:r>
              <a:rPr dirty="0"/>
              <a:t> </a:t>
            </a:r>
            <a:r>
              <a:rPr dirty="0" err="1"/>
              <a:t>курсов</a:t>
            </a:r>
            <a:endParaRPr dirty="0"/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dirty="0" err="1"/>
              <a:t>интеграция</a:t>
            </a:r>
            <a:r>
              <a:rPr dirty="0"/>
              <a:t> </a:t>
            </a:r>
            <a:r>
              <a:rPr dirty="0" err="1"/>
              <a:t>проверки</a:t>
            </a:r>
            <a:r>
              <a:rPr dirty="0"/>
              <a:t> </a:t>
            </a:r>
            <a:r>
              <a:rPr dirty="0" err="1"/>
              <a:t>реальных</a:t>
            </a:r>
            <a:r>
              <a:rPr dirty="0"/>
              <a:t> </a:t>
            </a:r>
            <a:r>
              <a:rPr dirty="0" err="1"/>
              <a:t>ссылок</a:t>
            </a:r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365</Words>
  <Application>Microsoft Macintosh PowerPoint</Application>
  <PresentationFormat>On-screen Show (4:3)</PresentationFormat>
  <Paragraphs>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Roman</vt:lpstr>
      <vt:lpstr>Office Theme</vt:lpstr>
      <vt:lpstr>Сайт-тренажёр по кибербезопасности «SafeNet»</vt:lpstr>
      <vt:lpstr>Введение</vt:lpstr>
      <vt:lpstr>Актуальность проекта</vt:lpstr>
      <vt:lpstr>Постановка проблемы</vt:lpstr>
      <vt:lpstr>Цель и задачи проекта</vt:lpstr>
      <vt:lpstr>Этапы выполнения работы</vt:lpstr>
      <vt:lpstr>Используемые технологии</vt:lpstr>
      <vt:lpstr>PowerPoint Presentation</vt:lpstr>
      <vt:lpstr>Преимущества проекта</vt:lpstr>
      <vt:lpstr>Выводы и перспективы развития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Artem</cp:lastModifiedBy>
  <cp:revision>2</cp:revision>
  <dcterms:modified xsi:type="dcterms:W3CDTF">2026-01-28T18:38:17Z</dcterms:modified>
</cp:coreProperties>
</file>