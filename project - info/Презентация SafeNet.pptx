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32"/>
    <p:restoredTop sz="94718"/>
  </p:normalViewPr>
  <p:slideViewPr>
    <p:cSldViewPr snapToGrid="0">
      <p:cViewPr varScale="1">
        <p:scale>
          <a:sx n="142" d="100"/>
          <a:sy n="142" d="100"/>
        </p:scale>
        <p:origin x="139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2" name="Shape 9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12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заголовка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21" name="Уровень текста 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t>Текст заголовка</a:t>
            </a:r>
          </a:p>
        </p:txBody>
      </p:sp>
      <p:sp>
        <p:nvSpPr>
          <p:cNvPr id="30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3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Текст заголовка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39" name="Уровень текста 1…"/>
          <p:cNvSpPr txBox="1"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0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Текст заголовка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48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45720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91440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137160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182880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0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Текст заголовка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5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Текст заголовка</a:t>
            </a:r>
          </a:p>
        </p:txBody>
      </p:sp>
      <p:sp>
        <p:nvSpPr>
          <p:cNvPr id="73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half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  <a:endParaRPr/>
          </a:p>
        </p:txBody>
      </p:sp>
      <p:sp>
        <p:nvSpPr>
          <p:cNvPr id="7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Текст заголовка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8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Текст заголовка</a:t>
            </a:r>
          </a:p>
        </p:txBody>
      </p:sp>
      <p:sp>
        <p:nvSpPr>
          <p:cNvPr id="3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itle 1"/>
          <p:cNvSpPr txBox="1">
            <a:spLocks noGrp="1"/>
          </p:cNvSpPr>
          <p:nvPr>
            <p:ph type="title"/>
          </p:nvPr>
        </p:nvSpPr>
        <p:spPr>
          <a:xfrm>
            <a:off x="457200" y="2274206"/>
            <a:ext cx="8229600" cy="156814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dirty="0" err="1"/>
              <a:t>Сайт-тренажёр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кибербезопасности</a:t>
            </a:r>
            <a:r>
              <a:rPr dirty="0"/>
              <a:t> «SafeNet»</a:t>
            </a:r>
          </a:p>
        </p:txBody>
      </p:sp>
      <p:sp>
        <p:nvSpPr>
          <p:cNvPr id="95" name="Content Placeholder 2"/>
          <p:cNvSpPr txBox="1">
            <a:spLocks noGrp="1"/>
          </p:cNvSpPr>
          <p:nvPr>
            <p:ph type="body" sz="quarter" idx="1"/>
          </p:nvPr>
        </p:nvSpPr>
        <p:spPr>
          <a:xfrm>
            <a:off x="5924667" y="4390165"/>
            <a:ext cx="3150322" cy="2396430"/>
          </a:xfrm>
          <a:prstGeom prst="rect">
            <a:avLst/>
          </a:prstGeom>
        </p:spPr>
        <p:txBody>
          <a:bodyPr/>
          <a:lstStyle/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dirty="0" err="1"/>
              <a:t>Участники</a:t>
            </a:r>
            <a:r>
              <a:rPr dirty="0"/>
              <a:t>:</a:t>
            </a: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dirty="0"/>
              <a:t> </a:t>
            </a:r>
            <a:r>
              <a:rPr dirty="0" err="1"/>
              <a:t>ученики</a:t>
            </a:r>
            <a:r>
              <a:rPr dirty="0"/>
              <a:t> </a:t>
            </a:r>
            <a:r>
              <a:rPr dirty="0" err="1"/>
              <a:t>класса</a:t>
            </a:r>
            <a:r>
              <a:rPr dirty="0"/>
              <a:t> 10-2 ГБОУ </a:t>
            </a:r>
            <a:r>
              <a:rPr dirty="0" err="1"/>
              <a:t>Школа</a:t>
            </a:r>
            <a:r>
              <a:rPr dirty="0"/>
              <a:t> № 1560 “</a:t>
            </a:r>
            <a:r>
              <a:rPr dirty="0" err="1"/>
              <a:t>Лидер</a:t>
            </a:r>
            <a:r>
              <a:rPr dirty="0"/>
              <a:t>”</a:t>
            </a:r>
            <a:endParaRPr sz="960" dirty="0">
              <a:latin typeface="Times Roman"/>
              <a:ea typeface="Times Roman"/>
              <a:cs typeface="Times Roman"/>
              <a:sym typeface="Times Roman"/>
            </a:endParaRP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dirty="0" err="1"/>
              <a:t>Волков</a:t>
            </a:r>
            <a:r>
              <a:rPr dirty="0"/>
              <a:t> </a:t>
            </a:r>
            <a:r>
              <a:rPr dirty="0" err="1"/>
              <a:t>Артем</a:t>
            </a:r>
            <a:r>
              <a:rPr dirty="0"/>
              <a:t> </a:t>
            </a:r>
            <a:r>
              <a:rPr dirty="0" err="1"/>
              <a:t>Александрович</a:t>
            </a:r>
            <a:endParaRPr sz="960" dirty="0">
              <a:latin typeface="Times Roman"/>
              <a:ea typeface="Times Roman"/>
              <a:cs typeface="Times Roman"/>
              <a:sym typeface="Times Roman"/>
            </a:endParaRP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dirty="0" err="1"/>
              <a:t>Савельев</a:t>
            </a:r>
            <a:r>
              <a:rPr dirty="0"/>
              <a:t> </a:t>
            </a:r>
            <a:r>
              <a:rPr dirty="0" err="1"/>
              <a:t>Роман</a:t>
            </a:r>
            <a:r>
              <a:rPr dirty="0"/>
              <a:t> </a:t>
            </a:r>
            <a:r>
              <a:rPr dirty="0" err="1"/>
              <a:t>Максимович</a:t>
            </a:r>
            <a:endParaRPr sz="960" dirty="0">
              <a:latin typeface="Times Roman"/>
              <a:ea typeface="Times Roman"/>
              <a:cs typeface="Times Roman"/>
              <a:sym typeface="Times Roman"/>
            </a:endParaRP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dirty="0" err="1"/>
              <a:t>Москвицов</a:t>
            </a:r>
            <a:r>
              <a:rPr dirty="0"/>
              <a:t> </a:t>
            </a:r>
            <a:r>
              <a:rPr dirty="0" err="1"/>
              <a:t>Александр</a:t>
            </a:r>
            <a:r>
              <a:rPr dirty="0"/>
              <a:t> </a:t>
            </a:r>
            <a:r>
              <a:rPr dirty="0" err="1"/>
              <a:t>Евгеньевич</a:t>
            </a:r>
            <a:endParaRPr sz="960" dirty="0">
              <a:latin typeface="Times Roman"/>
              <a:ea typeface="Times Roman"/>
              <a:cs typeface="Times Roman"/>
              <a:sym typeface="Times Roman"/>
            </a:endParaRP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960" dirty="0">
              <a:latin typeface="Times Roman"/>
              <a:ea typeface="Times Roman"/>
              <a:cs typeface="Times Roman"/>
              <a:sym typeface="Times Roman"/>
            </a:endParaRP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dirty="0" err="1"/>
              <a:t>Руководитель</a:t>
            </a:r>
            <a:r>
              <a:rPr dirty="0"/>
              <a:t>:</a:t>
            </a: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dirty="0" err="1"/>
              <a:t>педагог</a:t>
            </a:r>
            <a:r>
              <a:rPr dirty="0"/>
              <a:t> ГБОУ </a:t>
            </a:r>
            <a:r>
              <a:rPr dirty="0" err="1"/>
              <a:t>Школа</a:t>
            </a:r>
            <a:r>
              <a:rPr dirty="0"/>
              <a:t> № 1560 “</a:t>
            </a:r>
            <a:r>
              <a:rPr dirty="0" err="1"/>
              <a:t>Лидер</a:t>
            </a:r>
            <a:r>
              <a:rPr dirty="0"/>
              <a:t>”</a:t>
            </a:r>
            <a:endParaRPr sz="960" dirty="0">
              <a:latin typeface="Times Roman"/>
              <a:ea typeface="Times Roman"/>
              <a:cs typeface="Times Roman"/>
              <a:sym typeface="Times Roman"/>
            </a:endParaRPr>
          </a:p>
          <a:p>
            <a:pPr marL="0" indent="0" defTabSz="365760">
              <a:spcBef>
                <a:spcPts val="0"/>
              </a:spcBef>
              <a:buSzTx/>
              <a:buFontTx/>
              <a:buNone/>
              <a:defRPr sz="1386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rPr dirty="0" err="1"/>
              <a:t>Шепилов</a:t>
            </a:r>
            <a:r>
              <a:rPr dirty="0"/>
              <a:t> </a:t>
            </a:r>
            <a:r>
              <a:rPr dirty="0" err="1"/>
              <a:t>Дмитрий</a:t>
            </a:r>
            <a:r>
              <a:rPr dirty="0"/>
              <a:t> </a:t>
            </a:r>
            <a:r>
              <a:rPr dirty="0" err="1"/>
              <a:t>Александрович</a:t>
            </a:r>
            <a:endParaRPr sz="960" dirty="0">
              <a:latin typeface="Times Roman"/>
              <a:ea typeface="Times Roman"/>
              <a:cs typeface="Times Roman"/>
              <a:sym typeface="Times Roman"/>
            </a:endParaRPr>
          </a:p>
        </p:txBody>
      </p:sp>
      <p:sp>
        <p:nvSpPr>
          <p:cNvPr id="96" name="Государственное бюджетное общеобразовательное учреждение города Москвы «Школа № 1560 “Лидер”»"/>
          <p:cNvSpPr txBox="1"/>
          <p:nvPr/>
        </p:nvSpPr>
        <p:spPr>
          <a:xfrm>
            <a:off x="700267" y="219248"/>
            <a:ext cx="77434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2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sz="1200" dirty="0" err="1"/>
              <a:t>Государственное</a:t>
            </a:r>
            <a:r>
              <a:rPr sz="1200" dirty="0"/>
              <a:t> </a:t>
            </a:r>
            <a:r>
              <a:rPr sz="1200" dirty="0" err="1"/>
              <a:t>бюджетное</a:t>
            </a:r>
            <a:r>
              <a:rPr sz="1200" dirty="0"/>
              <a:t> </a:t>
            </a:r>
            <a:r>
              <a:rPr sz="1200" dirty="0" err="1"/>
              <a:t>общеобразовательное</a:t>
            </a:r>
            <a:r>
              <a:rPr sz="1200" dirty="0"/>
              <a:t> </a:t>
            </a:r>
            <a:r>
              <a:rPr sz="1200" dirty="0" err="1"/>
              <a:t>учреждение</a:t>
            </a:r>
            <a:r>
              <a:rPr sz="1200" dirty="0"/>
              <a:t> </a:t>
            </a:r>
            <a:r>
              <a:rPr sz="1200" dirty="0" err="1"/>
              <a:t>города</a:t>
            </a:r>
            <a:r>
              <a:rPr sz="1200" dirty="0"/>
              <a:t> </a:t>
            </a:r>
            <a:r>
              <a:rPr sz="1200" dirty="0" err="1"/>
              <a:t>Москвы</a:t>
            </a:r>
            <a:r>
              <a:rPr sz="1200" dirty="0"/>
              <a:t> «</a:t>
            </a:r>
            <a:r>
              <a:rPr sz="1200" dirty="0" err="1"/>
              <a:t>Школа</a:t>
            </a:r>
            <a:r>
              <a:rPr sz="1200" dirty="0"/>
              <a:t> № 1560 “</a:t>
            </a:r>
            <a:r>
              <a:rPr sz="1200" dirty="0" err="1"/>
              <a:t>Лидер</a:t>
            </a:r>
            <a:r>
              <a:rPr sz="1200" dirty="0"/>
              <a:t>”»</a:t>
            </a:r>
            <a:endParaRPr sz="800" dirty="0">
              <a:latin typeface="Times Roman"/>
              <a:ea typeface="Times Roman"/>
              <a:cs typeface="Times Roman"/>
              <a:sym typeface="Times Roman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itle 1"/>
          <p:cNvSpPr txBox="1">
            <a:spLocks noGrp="1"/>
          </p:cNvSpPr>
          <p:nvPr>
            <p:ph type="title"/>
          </p:nvPr>
        </p:nvSpPr>
        <p:spPr>
          <a:xfrm>
            <a:off x="457200" y="-182562"/>
            <a:ext cx="8229600" cy="1143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Введение</a:t>
            </a:r>
            <a:endParaRPr b="1" dirty="0"/>
          </a:p>
        </p:txBody>
      </p:sp>
      <p:sp>
        <p:nvSpPr>
          <p:cNvPr id="99" name="Content Placeholder 2"/>
          <p:cNvSpPr txBox="1">
            <a:spLocks noGrp="1"/>
          </p:cNvSpPr>
          <p:nvPr>
            <p:ph type="body" sz="half" idx="1"/>
          </p:nvPr>
        </p:nvSpPr>
        <p:spPr>
          <a:xfrm>
            <a:off x="376518" y="5228333"/>
            <a:ext cx="8434194" cy="1876890"/>
          </a:xfrm>
          <a:prstGeom prst="rect">
            <a:avLst/>
          </a:prstGeom>
        </p:spPr>
        <p:txBody>
          <a:bodyPr/>
          <a:lstStyle>
            <a:lvl1pPr marL="0" indent="0" defTabSz="315468">
              <a:spcBef>
                <a:spcPts val="500"/>
              </a:spcBef>
              <a:buSzTx/>
              <a:buFontTx/>
              <a:buNone/>
              <a:defRPr sz="2208">
                <a:solidFill>
                  <a:srgbClr val="FFFFFF"/>
                </a:solidFill>
              </a:defRPr>
            </a:lvl1pPr>
          </a:lstStyle>
          <a:p>
            <a:r>
              <a:rPr lang="en-US" b="1" dirty="0" err="1"/>
              <a:t>Safenet</a:t>
            </a:r>
            <a:r>
              <a:rPr lang="en-US" dirty="0"/>
              <a:t> — </a:t>
            </a:r>
            <a:r>
              <a:rPr lang="ru-RU" sz="2000" dirty="0"/>
              <a:t>это веб-приложение-тренажёр по кибербезопасности. Проект создан для обучения школьников и обычных пользователей интернета распознаванию фишинга, поддельных сайтов, вредоносных сообщений и других онлайн-угроз через интерактивные задания.</a:t>
            </a:r>
            <a:endParaRPr lang="ru-RU" dirty="0"/>
          </a:p>
        </p:txBody>
      </p:sp>
      <p:pic>
        <p:nvPicPr>
          <p:cNvPr id="100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18" y="797859"/>
            <a:ext cx="8434194" cy="443047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Актуальность</a:t>
            </a:r>
            <a:r>
              <a:rPr b="1" dirty="0"/>
              <a:t> </a:t>
            </a:r>
            <a:r>
              <a:rPr b="1" dirty="0" err="1"/>
              <a:t>проекта</a:t>
            </a:r>
            <a:endParaRPr b="1" dirty="0"/>
          </a:p>
        </p:txBody>
      </p:sp>
      <p:sp>
        <p:nvSpPr>
          <p:cNvPr id="103" name="Content Placeholder 2"/>
          <p:cNvSpPr txBox="1">
            <a:spLocks noGrp="1"/>
          </p:cNvSpPr>
          <p:nvPr>
            <p:ph type="body" sz="half" idx="1"/>
          </p:nvPr>
        </p:nvSpPr>
        <p:spPr>
          <a:xfrm>
            <a:off x="383029" y="1542241"/>
            <a:ext cx="3341778" cy="4375451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0" indent="0" defTabSz="310895">
              <a:spcBef>
                <a:spcPts val="500"/>
              </a:spcBef>
              <a:buSzTx/>
              <a:buFontTx/>
              <a:buNone/>
              <a:defRPr sz="2176">
                <a:solidFill>
                  <a:srgbClr val="FFFFFF"/>
                </a:solidFill>
              </a:defRPr>
            </a:pPr>
            <a:r>
              <a:rPr lang="ru-RU" dirty="0"/>
              <a:t>Сегодня большая часть общения, учёбы и работы проходит в интернете.</a:t>
            </a:r>
          </a:p>
          <a:p>
            <a:pPr marL="233172" indent="-233172" defTabSz="310895">
              <a:spcBef>
                <a:spcPts val="500"/>
              </a:spcBef>
              <a:defRPr sz="2176">
                <a:solidFill>
                  <a:srgbClr val="FFFFFF"/>
                </a:solidFill>
              </a:defRPr>
            </a:pPr>
            <a:endParaRPr lang="ru-RU" dirty="0"/>
          </a:p>
          <a:p>
            <a:pPr marL="0" indent="0" defTabSz="310895">
              <a:spcBef>
                <a:spcPts val="500"/>
              </a:spcBef>
              <a:buSzTx/>
              <a:buFontTx/>
              <a:buNone/>
              <a:defRPr sz="2176">
                <a:solidFill>
                  <a:srgbClr val="FFFFFF"/>
                </a:solidFill>
              </a:defRPr>
            </a:pPr>
            <a:r>
              <a:rPr lang="ru-RU" dirty="0"/>
              <a:t>Пользователи регулярно сталкиваются с </a:t>
            </a:r>
            <a:r>
              <a:rPr lang="ru-RU" dirty="0" err="1"/>
              <a:t>киберугрозами</a:t>
            </a:r>
            <a:r>
              <a:rPr lang="ru-RU" dirty="0"/>
              <a:t>:</a:t>
            </a:r>
          </a:p>
          <a:p>
            <a:pPr marL="233172" indent="-233172" defTabSz="310895">
              <a:spcBef>
                <a:spcPts val="500"/>
              </a:spcBef>
              <a:defRPr sz="2176">
                <a:solidFill>
                  <a:srgbClr val="FFFFFF"/>
                </a:solidFill>
              </a:defRPr>
            </a:pPr>
            <a:r>
              <a:rPr lang="ru-RU" dirty="0"/>
              <a:t>Фишинг и мошеннические письма</a:t>
            </a:r>
          </a:p>
          <a:p>
            <a:pPr marL="233172" indent="-233172" defTabSz="310895">
              <a:spcBef>
                <a:spcPts val="500"/>
              </a:spcBef>
              <a:defRPr sz="2176">
                <a:solidFill>
                  <a:srgbClr val="FFFFFF"/>
                </a:solidFill>
              </a:defRPr>
            </a:pPr>
            <a:r>
              <a:rPr lang="ru-RU" dirty="0"/>
              <a:t>Поддельные сайты</a:t>
            </a:r>
          </a:p>
          <a:p>
            <a:pPr marL="233172" indent="-233172" defTabSz="310895">
              <a:spcBef>
                <a:spcPts val="500"/>
              </a:spcBef>
              <a:defRPr sz="2176">
                <a:solidFill>
                  <a:srgbClr val="FFFFFF"/>
                </a:solidFill>
              </a:defRPr>
            </a:pPr>
            <a:r>
              <a:rPr lang="ru-RU" dirty="0"/>
              <a:t>Кража персональных данных</a:t>
            </a:r>
          </a:p>
        </p:txBody>
      </p:sp>
      <p:pic>
        <p:nvPicPr>
          <p:cNvPr id="104" name="вставленный-фильм.png" descr="вставленный-филь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6619" y="2020507"/>
            <a:ext cx="4462551" cy="28169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Постановка</a:t>
            </a:r>
            <a:r>
              <a:rPr b="1" dirty="0"/>
              <a:t> </a:t>
            </a:r>
            <a:r>
              <a:rPr b="1" dirty="0" err="1"/>
              <a:t>проблемы</a:t>
            </a:r>
            <a:endParaRPr b="1" dirty="0"/>
          </a:p>
        </p:txBody>
      </p:sp>
      <p:sp>
        <p:nvSpPr>
          <p:cNvPr id="107" name="Content Placeholder 2"/>
          <p:cNvSpPr txBox="1">
            <a:spLocks noGrp="1"/>
          </p:cNvSpPr>
          <p:nvPr>
            <p:ph type="body" sz="half" idx="1"/>
          </p:nvPr>
        </p:nvSpPr>
        <p:spPr>
          <a:xfrm>
            <a:off x="334992" y="1587648"/>
            <a:ext cx="4506146" cy="4552893"/>
          </a:xfrm>
          <a:prstGeom prst="rect">
            <a:avLst/>
          </a:prstGeom>
        </p:spPr>
        <p:txBody>
          <a:bodyPr/>
          <a:lstStyle/>
          <a:p>
            <a:pPr marL="0" indent="0" defTabSz="310895">
              <a:spcBef>
                <a:spcPts val="500"/>
              </a:spcBef>
              <a:buSzTx/>
              <a:buFontTx/>
              <a:buNone/>
              <a:defRPr sz="2176">
                <a:solidFill>
                  <a:srgbClr val="FFFFFF"/>
                </a:solidFill>
              </a:defRPr>
            </a:pPr>
            <a:r>
              <a:rPr lang="ru-RU" dirty="0"/>
              <a:t>Большинство обучающих материалов по кибербезопасности представляют собой теоретические тексты и тесты без практики.</a:t>
            </a:r>
          </a:p>
          <a:p>
            <a:pPr marL="0" indent="0" defTabSz="310895">
              <a:spcBef>
                <a:spcPts val="500"/>
              </a:spcBef>
              <a:buSzTx/>
              <a:buFontTx/>
              <a:buNone/>
              <a:defRPr sz="2176">
                <a:solidFill>
                  <a:srgbClr val="FFFFFF"/>
                </a:solidFill>
              </a:defRPr>
            </a:pPr>
            <a:endParaRPr lang="ru-RU" dirty="0"/>
          </a:p>
          <a:p>
            <a:pPr marL="0" indent="0" defTabSz="310895">
              <a:spcBef>
                <a:spcPts val="500"/>
              </a:spcBef>
              <a:buSzTx/>
              <a:buFontTx/>
              <a:buNone/>
              <a:defRPr sz="2176">
                <a:solidFill>
                  <a:srgbClr val="FFFFFF"/>
                </a:solidFill>
              </a:defRPr>
            </a:pPr>
            <a:r>
              <a:rPr lang="ru-RU" dirty="0"/>
              <a:t>Из-за этого знания быстро забываются и не применяются в реальных ситуациях.</a:t>
            </a:r>
          </a:p>
          <a:p>
            <a:pPr marL="0" indent="0" defTabSz="310895">
              <a:spcBef>
                <a:spcPts val="500"/>
              </a:spcBef>
              <a:buSzTx/>
              <a:buFontTx/>
              <a:buNone/>
              <a:defRPr sz="2176">
                <a:solidFill>
                  <a:srgbClr val="FFFFFF"/>
                </a:solidFill>
              </a:defRPr>
            </a:pPr>
            <a:endParaRPr lang="ru-RU" dirty="0"/>
          </a:p>
          <a:p>
            <a:pPr marL="0" indent="0" defTabSz="310895">
              <a:spcBef>
                <a:spcPts val="500"/>
              </a:spcBef>
              <a:buSzTx/>
              <a:buFontTx/>
              <a:buNone/>
              <a:defRPr sz="2176">
                <a:solidFill>
                  <a:srgbClr val="FFFFFF"/>
                </a:solidFill>
              </a:defRPr>
            </a:pPr>
            <a:r>
              <a:rPr lang="ru-RU" dirty="0"/>
              <a:t>Необходим инструмент, который обучает через практику и реальные примеры.</a:t>
            </a:r>
          </a:p>
        </p:txBody>
      </p:sp>
      <p:pic>
        <p:nvPicPr>
          <p:cNvPr id="108" name="Снимок экрана 2026-01-21 в 19.29.40.png" descr="Снимок экрана 2026-01-21 в 19.29.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2218" y="1531667"/>
            <a:ext cx="3502226" cy="455289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Цель</a:t>
            </a:r>
            <a:r>
              <a:rPr b="1" dirty="0"/>
              <a:t> </a:t>
            </a:r>
            <a:r>
              <a:rPr b="1" dirty="0" err="1"/>
              <a:t>и</a:t>
            </a:r>
            <a:r>
              <a:rPr b="1" dirty="0"/>
              <a:t> </a:t>
            </a:r>
            <a:r>
              <a:rPr b="1" dirty="0" err="1"/>
              <a:t>задачи</a:t>
            </a:r>
            <a:r>
              <a:rPr b="1" dirty="0"/>
              <a:t> </a:t>
            </a:r>
            <a:r>
              <a:rPr b="1" dirty="0" err="1"/>
              <a:t>проекта</a:t>
            </a:r>
            <a:endParaRPr b="1" dirty="0"/>
          </a:p>
        </p:txBody>
      </p:sp>
      <p:sp>
        <p:nvSpPr>
          <p:cNvPr id="11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0" indent="0" defTabSz="370331">
              <a:spcBef>
                <a:spcPts val="600"/>
              </a:spcBef>
              <a:buSzTx/>
              <a:buFontTx/>
              <a:buNone/>
              <a:defRPr sz="2592">
                <a:solidFill>
                  <a:srgbClr val="FFFFFF"/>
                </a:solidFill>
              </a:defRPr>
            </a:pPr>
            <a:r>
              <a:rPr lang="ru-RU" b="1" dirty="0"/>
              <a:t>Цель проекта:</a:t>
            </a:r>
          </a:p>
          <a:p>
            <a:pPr marL="0" indent="0" defTabSz="370331">
              <a:spcBef>
                <a:spcPts val="600"/>
              </a:spcBef>
              <a:buSzTx/>
              <a:buFontTx/>
              <a:buNone/>
              <a:defRPr sz="2592">
                <a:solidFill>
                  <a:srgbClr val="FFFFFF"/>
                </a:solidFill>
              </a:defRPr>
            </a:pPr>
            <a:r>
              <a:rPr lang="ru-RU" dirty="0"/>
              <a:t>Создать интерактивный веб-тренажёр по кибербезопасности с сохранением прогресса пользователей.</a:t>
            </a:r>
          </a:p>
          <a:p>
            <a:pPr marL="277749" indent="-277749" defTabSz="370331">
              <a:spcBef>
                <a:spcPts val="600"/>
              </a:spcBef>
              <a:defRPr sz="2592">
                <a:solidFill>
                  <a:srgbClr val="FFFFFF"/>
                </a:solidFill>
              </a:defRPr>
            </a:pPr>
            <a:endParaRPr lang="ru-RU" dirty="0"/>
          </a:p>
          <a:p>
            <a:pPr marL="0" indent="0" defTabSz="370331">
              <a:spcBef>
                <a:spcPts val="600"/>
              </a:spcBef>
              <a:buSzTx/>
              <a:buFontTx/>
              <a:buNone/>
              <a:defRPr sz="2592">
                <a:solidFill>
                  <a:srgbClr val="FFFFFF"/>
                </a:solidFill>
              </a:defRPr>
            </a:pPr>
            <a:r>
              <a:rPr lang="ru-RU" b="1" dirty="0"/>
              <a:t>Основные задачи:</a:t>
            </a:r>
          </a:p>
          <a:p>
            <a:pPr marL="346509" indent="-346509" defTabSz="370331">
              <a:spcBef>
                <a:spcPts val="600"/>
              </a:spcBef>
              <a:buFontTx/>
              <a:buAutoNum type="arabicPeriod"/>
              <a:defRPr sz="2592">
                <a:solidFill>
                  <a:srgbClr val="FFFFFF"/>
                </a:solidFill>
              </a:defRPr>
            </a:pPr>
            <a:r>
              <a:rPr lang="ru-RU" dirty="0"/>
              <a:t>Разработать архитектуру приложения</a:t>
            </a:r>
          </a:p>
          <a:p>
            <a:pPr marL="346509" indent="-346509" defTabSz="370331">
              <a:spcBef>
                <a:spcPts val="600"/>
              </a:spcBef>
              <a:buFontTx/>
              <a:buAutoNum type="arabicPeriod"/>
              <a:defRPr sz="2592">
                <a:solidFill>
                  <a:srgbClr val="FFFFFF"/>
                </a:solidFill>
              </a:defRPr>
            </a:pPr>
            <a:r>
              <a:rPr lang="ru-RU" dirty="0"/>
              <a:t>Создать </a:t>
            </a:r>
            <a:r>
              <a:rPr lang="en-US" dirty="0"/>
              <a:t>frontend </a:t>
            </a:r>
            <a:r>
              <a:rPr lang="ru-RU" dirty="0"/>
              <a:t>и </a:t>
            </a:r>
            <a:r>
              <a:rPr lang="en-US" dirty="0"/>
              <a:t>backend</a:t>
            </a:r>
          </a:p>
          <a:p>
            <a:pPr marL="346509" indent="-346509" defTabSz="370331">
              <a:spcBef>
                <a:spcPts val="600"/>
              </a:spcBef>
              <a:buFontTx/>
              <a:buAutoNum type="arabicPeriod"/>
              <a:defRPr sz="2592">
                <a:solidFill>
                  <a:srgbClr val="FFFFFF"/>
                </a:solidFill>
              </a:defRPr>
            </a:pPr>
            <a:r>
              <a:rPr lang="ru-RU" dirty="0"/>
              <a:t>Реализовать систему уровней и тестов</a:t>
            </a:r>
          </a:p>
          <a:p>
            <a:pPr marL="346509" indent="-346509" defTabSz="370331">
              <a:spcBef>
                <a:spcPts val="600"/>
              </a:spcBef>
              <a:buFontTx/>
              <a:buAutoNum type="arabicPeriod"/>
              <a:defRPr sz="2592">
                <a:solidFill>
                  <a:srgbClr val="FFFFFF"/>
                </a:solidFill>
              </a:defRPr>
            </a:pPr>
            <a:r>
              <a:rPr lang="ru-RU" dirty="0"/>
              <a:t>Провести тестирование среди школьников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Этапы</a:t>
            </a:r>
            <a:r>
              <a:rPr b="1" dirty="0"/>
              <a:t> </a:t>
            </a:r>
            <a:r>
              <a:rPr b="1" dirty="0" err="1"/>
              <a:t>выполнения</a:t>
            </a:r>
            <a:r>
              <a:rPr b="1" dirty="0"/>
              <a:t> </a:t>
            </a:r>
            <a:r>
              <a:rPr b="1" dirty="0" err="1"/>
              <a:t>работы</a:t>
            </a:r>
            <a:endParaRPr b="1" dirty="0"/>
          </a:p>
        </p:txBody>
      </p:sp>
      <p:sp>
        <p:nvSpPr>
          <p:cNvPr id="114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 defTabSz="452627">
              <a:buSzTx/>
              <a:buFontTx/>
              <a:buNone/>
              <a:defRPr sz="3168">
                <a:solidFill>
                  <a:srgbClr val="FFFFFF"/>
                </a:solidFill>
              </a:defRPr>
            </a:pPr>
            <a:r>
              <a:rPr lang="ru-RU" sz="2800" dirty="0"/>
              <a:t>1. Анализ существующих обучающих платформ</a:t>
            </a:r>
          </a:p>
          <a:p>
            <a:pPr marL="0" indent="0" defTabSz="452627">
              <a:buSzTx/>
              <a:buFontTx/>
              <a:buNone/>
              <a:defRPr sz="3168">
                <a:solidFill>
                  <a:srgbClr val="FFFFFF"/>
                </a:solidFill>
              </a:defRPr>
            </a:pPr>
            <a:r>
              <a:rPr lang="ru-RU" sz="2800" dirty="0"/>
              <a:t>2. Проектирование структуры приложения и интерфейса</a:t>
            </a:r>
          </a:p>
          <a:p>
            <a:pPr marL="0" indent="0" defTabSz="452627">
              <a:buSzTx/>
              <a:buFontTx/>
              <a:buNone/>
              <a:defRPr sz="3168">
                <a:solidFill>
                  <a:srgbClr val="FFFFFF"/>
                </a:solidFill>
              </a:defRPr>
            </a:pPr>
            <a:r>
              <a:rPr lang="ru-RU" sz="2800" dirty="0"/>
              <a:t>3. Разработка </a:t>
            </a:r>
            <a:r>
              <a:rPr lang="en-US" sz="2800" dirty="0"/>
              <a:t>backend </a:t>
            </a:r>
            <a:r>
              <a:rPr lang="ru-RU" sz="2800" dirty="0"/>
              <a:t>на </a:t>
            </a:r>
            <a:r>
              <a:rPr lang="en-US" sz="2800" dirty="0" err="1"/>
              <a:t>nextjs</a:t>
            </a:r>
            <a:r>
              <a:rPr lang="en-US" sz="2800" dirty="0"/>
              <a:t> </a:t>
            </a:r>
            <a:r>
              <a:rPr lang="ru-RU" sz="2800" dirty="0"/>
              <a:t>и </a:t>
            </a:r>
            <a:r>
              <a:rPr lang="en-US" sz="2800" dirty="0" err="1"/>
              <a:t>postgresql</a:t>
            </a:r>
            <a:endParaRPr lang="en-US" sz="2800" dirty="0"/>
          </a:p>
          <a:p>
            <a:pPr marL="0" indent="0" defTabSz="452627">
              <a:buSzTx/>
              <a:buFontTx/>
              <a:buNone/>
              <a:defRPr sz="3168">
                <a:solidFill>
                  <a:srgbClr val="FFFFFF"/>
                </a:solidFill>
              </a:defRPr>
            </a:pPr>
            <a:r>
              <a:rPr lang="en-US" sz="2800" dirty="0"/>
              <a:t>4. </a:t>
            </a:r>
            <a:r>
              <a:rPr lang="ru-RU" sz="2800" dirty="0"/>
              <a:t>Разработка </a:t>
            </a:r>
            <a:r>
              <a:rPr lang="en-US" sz="2800" dirty="0"/>
              <a:t>frontend </a:t>
            </a:r>
            <a:r>
              <a:rPr lang="ru-RU" sz="2800" dirty="0"/>
              <a:t>с системой курсов и заданий</a:t>
            </a:r>
          </a:p>
          <a:p>
            <a:pPr marL="0" indent="0" defTabSz="452627">
              <a:buSzTx/>
              <a:buFontTx/>
              <a:buNone/>
              <a:defRPr sz="3168">
                <a:solidFill>
                  <a:srgbClr val="FFFFFF"/>
                </a:solidFill>
              </a:defRPr>
            </a:pPr>
            <a:r>
              <a:rPr lang="ru-RU" sz="2800" dirty="0"/>
              <a:t>5. Интеграция базы данных и авторизации</a:t>
            </a:r>
          </a:p>
          <a:p>
            <a:pPr marL="0" indent="0" defTabSz="452627">
              <a:buSzTx/>
              <a:buFontTx/>
              <a:buNone/>
              <a:defRPr sz="3168">
                <a:solidFill>
                  <a:srgbClr val="FFFFFF"/>
                </a:solidFill>
              </a:defRPr>
            </a:pPr>
            <a:r>
              <a:rPr lang="ru-RU" sz="2800" dirty="0"/>
              <a:t>6. Тестирование и апробация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Используемые</a:t>
            </a:r>
            <a:r>
              <a:rPr b="1" dirty="0"/>
              <a:t> </a:t>
            </a:r>
            <a:r>
              <a:rPr b="1" dirty="0" err="1"/>
              <a:t>технологии</a:t>
            </a:r>
            <a:endParaRPr b="1" dirty="0"/>
          </a:p>
        </p:txBody>
      </p:sp>
      <p:sp>
        <p:nvSpPr>
          <p:cNvPr id="117" name="Content Placeholder 2"/>
          <p:cNvSpPr txBox="1">
            <a:spLocks noGrp="1"/>
          </p:cNvSpPr>
          <p:nvPr>
            <p:ph type="body" sz="half" idx="1"/>
          </p:nvPr>
        </p:nvSpPr>
        <p:spPr>
          <a:xfrm>
            <a:off x="184030" y="1628646"/>
            <a:ext cx="4497497" cy="4195593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264032" indent="-264032" defTabSz="352043">
              <a:spcBef>
                <a:spcPts val="500"/>
              </a:spcBef>
              <a:defRPr sz="2464">
                <a:solidFill>
                  <a:srgbClr val="FFFFFF"/>
                </a:solidFill>
              </a:defRPr>
            </a:pPr>
            <a:r>
              <a:rPr lang="en-US" u="sng" dirty="0" err="1"/>
              <a:t>Nextjs</a:t>
            </a:r>
            <a:r>
              <a:rPr lang="en-US" dirty="0"/>
              <a:t> — </a:t>
            </a:r>
            <a:r>
              <a:rPr lang="ru-RU" dirty="0"/>
              <a:t>разработка </a:t>
            </a:r>
            <a:r>
              <a:rPr lang="en-US" dirty="0"/>
              <a:t>frontend</a:t>
            </a:r>
          </a:p>
          <a:p>
            <a:pPr marL="264032" indent="-264032" defTabSz="352043">
              <a:spcBef>
                <a:spcPts val="500"/>
              </a:spcBef>
              <a:defRPr sz="2464">
                <a:solidFill>
                  <a:srgbClr val="FFFFFF"/>
                </a:solidFill>
              </a:defRPr>
            </a:pPr>
            <a:r>
              <a:rPr lang="en-US" u="sng" dirty="0" err="1"/>
              <a:t>Nestjs</a:t>
            </a:r>
            <a:r>
              <a:rPr lang="en-US" dirty="0"/>
              <a:t> — </a:t>
            </a:r>
            <a:r>
              <a:rPr lang="ru-RU" dirty="0"/>
              <a:t>разработка </a:t>
            </a:r>
            <a:r>
              <a:rPr lang="en-US" dirty="0"/>
              <a:t>backend</a:t>
            </a:r>
          </a:p>
          <a:p>
            <a:pPr marL="264032" indent="-264032" defTabSz="352043">
              <a:spcBef>
                <a:spcPts val="500"/>
              </a:spcBef>
              <a:defRPr sz="2464">
                <a:solidFill>
                  <a:srgbClr val="FFFFFF"/>
                </a:solidFill>
              </a:defRPr>
            </a:pPr>
            <a:r>
              <a:rPr lang="en-US" u="sng" dirty="0" err="1"/>
              <a:t>Postgresql</a:t>
            </a:r>
            <a:r>
              <a:rPr lang="en-US" dirty="0"/>
              <a:t> — </a:t>
            </a:r>
            <a:r>
              <a:rPr lang="ru-RU" dirty="0"/>
              <a:t>хранение данных пользователей и результатов</a:t>
            </a:r>
          </a:p>
          <a:p>
            <a:pPr marL="264032" indent="-264032" defTabSz="352043">
              <a:spcBef>
                <a:spcPts val="500"/>
              </a:spcBef>
              <a:defRPr sz="2464">
                <a:solidFill>
                  <a:srgbClr val="FFFFFF"/>
                </a:solidFill>
              </a:defRPr>
            </a:pPr>
            <a:r>
              <a:rPr lang="en-US" u="sng" dirty="0"/>
              <a:t>REST API</a:t>
            </a:r>
            <a:r>
              <a:rPr lang="en-US" dirty="0"/>
              <a:t> — </a:t>
            </a:r>
            <a:r>
              <a:rPr lang="ru-RU" dirty="0"/>
              <a:t>взаимодействие между компонентами</a:t>
            </a:r>
          </a:p>
          <a:p>
            <a:pPr marL="264032" indent="-264032" defTabSz="352043">
              <a:spcBef>
                <a:spcPts val="500"/>
              </a:spcBef>
              <a:defRPr sz="2464">
                <a:solidFill>
                  <a:srgbClr val="FFFFFF"/>
                </a:solidFill>
              </a:defRPr>
            </a:pPr>
            <a:r>
              <a:rPr lang="en-US" u="sng" dirty="0" err="1"/>
              <a:t>Node.Js</a:t>
            </a:r>
            <a:r>
              <a:rPr lang="en-US" dirty="0"/>
              <a:t> — </a:t>
            </a:r>
            <a:r>
              <a:rPr lang="ru-RU" dirty="0"/>
              <a:t>серверная логика</a:t>
            </a:r>
          </a:p>
          <a:p>
            <a:pPr marL="264032" indent="-264032" defTabSz="352043">
              <a:spcBef>
                <a:spcPts val="500"/>
              </a:spcBef>
              <a:defRPr sz="2464">
                <a:solidFill>
                  <a:srgbClr val="FFFFFF"/>
                </a:solidFill>
              </a:defRPr>
            </a:pPr>
            <a:r>
              <a:rPr lang="en-US" u="sng" dirty="0"/>
              <a:t>Visual studio code</a:t>
            </a:r>
            <a:r>
              <a:rPr lang="en-US" dirty="0"/>
              <a:t> — </a:t>
            </a:r>
            <a:r>
              <a:rPr lang="ru-RU" dirty="0"/>
              <a:t>среда разработки</a:t>
            </a:r>
          </a:p>
        </p:txBody>
      </p:sp>
      <p:pic>
        <p:nvPicPr>
          <p:cNvPr id="118" name="вставленный-фильм.png" descr="вставленный-филь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417" y="1287962"/>
            <a:ext cx="1767265" cy="17672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9" name="вставленный-фильм.png" descr="вставленный-фильм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7417" y="3174073"/>
            <a:ext cx="1767265" cy="17672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20" name="вставленный-фильм.png" descr="вставленный-фильм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3232" y="4961377"/>
            <a:ext cx="1793774" cy="176726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1" name="вставленный-фильм.png" descr="вставленный-фильм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0572" y="1287962"/>
            <a:ext cx="1767265" cy="17672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вставленный-фильм.png" descr="вставленный-фильм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0572" y="3174073"/>
            <a:ext cx="1767265" cy="176726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2"/>
          <p:cNvSpPr txBox="1"/>
          <p:nvPr/>
        </p:nvSpPr>
        <p:spPr>
          <a:xfrm>
            <a:off x="445410" y="29904"/>
            <a:ext cx="8253180" cy="14465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4400"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Функциональные</a:t>
            </a:r>
            <a:r>
              <a:rPr b="1" dirty="0"/>
              <a:t> </a:t>
            </a:r>
            <a:r>
              <a:rPr b="1" dirty="0" err="1"/>
              <a:t>возможности</a:t>
            </a:r>
            <a:r>
              <a:rPr b="1" dirty="0"/>
              <a:t> SafeNet</a:t>
            </a:r>
          </a:p>
        </p:txBody>
      </p:sp>
      <p:sp>
        <p:nvSpPr>
          <p:cNvPr id="125" name="TextBox 3"/>
          <p:cNvSpPr txBox="1"/>
          <p:nvPr/>
        </p:nvSpPr>
        <p:spPr>
          <a:xfrm>
            <a:off x="286077" y="1877208"/>
            <a:ext cx="3667357" cy="3631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2100">
                <a:solidFill>
                  <a:srgbClr val="FFFFFF"/>
                </a:solidFill>
              </a:defRPr>
            </a:pPr>
            <a:r>
              <a:rPr lang="ru-RU" b="1" dirty="0"/>
              <a:t>Приложение предоставляет пользователю:</a:t>
            </a:r>
          </a:p>
          <a:p>
            <a:pPr>
              <a:defRPr sz="2100">
                <a:solidFill>
                  <a:srgbClr val="FFFFFF"/>
                </a:solidFill>
              </a:defRPr>
            </a:pPr>
            <a:r>
              <a:rPr lang="ru-RU" sz="2000" dirty="0"/>
              <a:t>• Регистрацию и авторизацию</a:t>
            </a:r>
          </a:p>
          <a:p>
            <a:pPr>
              <a:defRPr sz="2100">
                <a:solidFill>
                  <a:srgbClr val="FFFFFF"/>
                </a:solidFill>
              </a:defRPr>
            </a:pPr>
            <a:r>
              <a:rPr lang="ru-RU" sz="2000" dirty="0"/>
              <a:t>• Обучающие курсы по кибербезопасности</a:t>
            </a:r>
          </a:p>
          <a:p>
            <a:pPr>
              <a:defRPr sz="2100">
                <a:solidFill>
                  <a:srgbClr val="FFFFFF"/>
                </a:solidFill>
              </a:defRPr>
            </a:pPr>
            <a:r>
              <a:rPr lang="ru-RU" sz="2000" dirty="0"/>
              <a:t>• Интерактивные задания и тесты</a:t>
            </a:r>
          </a:p>
          <a:p>
            <a:pPr>
              <a:defRPr sz="2100">
                <a:solidFill>
                  <a:srgbClr val="FFFFFF"/>
                </a:solidFill>
              </a:defRPr>
            </a:pPr>
            <a:r>
              <a:rPr lang="ru-RU" sz="2000" dirty="0"/>
              <a:t>• Систему баллов, уровней и достижений</a:t>
            </a:r>
          </a:p>
          <a:p>
            <a:pPr>
              <a:defRPr sz="2100">
                <a:solidFill>
                  <a:srgbClr val="FFFFFF"/>
                </a:solidFill>
              </a:defRPr>
            </a:pPr>
            <a:r>
              <a:rPr lang="ru-RU" sz="2000" dirty="0"/>
              <a:t>• Сохранение статистики и прогресса</a:t>
            </a:r>
          </a:p>
        </p:txBody>
      </p:sp>
      <p:pic>
        <p:nvPicPr>
          <p:cNvPr id="126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523" y="1420084"/>
            <a:ext cx="4498130" cy="25719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7" name="CleanShot 2026-01-19 at 15.03.26@2x.png" descr="CleanShot 2026-01-19 at 15.03.26@2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83" y="4128744"/>
            <a:ext cx="4508210" cy="25719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Преимущества</a:t>
            </a:r>
            <a:r>
              <a:rPr b="1" dirty="0"/>
              <a:t> </a:t>
            </a:r>
            <a:r>
              <a:rPr b="1" dirty="0" err="1"/>
              <a:t>проекта</a:t>
            </a:r>
            <a:endParaRPr b="1" dirty="0"/>
          </a:p>
        </p:txBody>
      </p:sp>
      <p:sp>
        <p:nvSpPr>
          <p:cNvPr id="130" name="Content Placeholder 2"/>
          <p:cNvSpPr txBox="1">
            <a:spLocks noGrp="1"/>
          </p:cNvSpPr>
          <p:nvPr>
            <p:ph type="body" sz="half" idx="1"/>
          </p:nvPr>
        </p:nvSpPr>
        <p:spPr>
          <a:xfrm>
            <a:off x="277483" y="1641282"/>
            <a:ext cx="4071792" cy="4556768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270890" indent="-270890" defTabSz="361188">
              <a:spcBef>
                <a:spcPts val="600"/>
              </a:spcBef>
              <a:defRPr sz="2528">
                <a:solidFill>
                  <a:srgbClr val="FFFFFF"/>
                </a:solidFill>
              </a:defRPr>
            </a:pPr>
            <a:r>
              <a:rPr lang="ru-RU" dirty="0"/>
              <a:t>Обучение в игровой форме</a:t>
            </a:r>
          </a:p>
          <a:p>
            <a:pPr marL="270890" indent="-270890" defTabSz="361188">
              <a:spcBef>
                <a:spcPts val="600"/>
              </a:spcBef>
              <a:defRPr sz="2528">
                <a:solidFill>
                  <a:srgbClr val="FFFFFF"/>
                </a:solidFill>
              </a:defRPr>
            </a:pPr>
            <a:r>
              <a:rPr lang="ru-RU" dirty="0"/>
              <a:t>Практические </a:t>
            </a:r>
            <a:r>
              <a:rPr lang="ru-RU" sz="2400" dirty="0"/>
              <a:t>задания</a:t>
            </a:r>
            <a:r>
              <a:rPr lang="ru-RU" dirty="0"/>
              <a:t>, приближенные к реальным ситуациям</a:t>
            </a:r>
          </a:p>
          <a:p>
            <a:pPr marL="270890" indent="-270890" defTabSz="361188">
              <a:spcBef>
                <a:spcPts val="600"/>
              </a:spcBef>
              <a:defRPr sz="2528">
                <a:solidFill>
                  <a:srgbClr val="FFFFFF"/>
                </a:solidFill>
              </a:defRPr>
            </a:pPr>
            <a:r>
              <a:rPr lang="ru-RU" dirty="0"/>
              <a:t>Понятный интерфейс для школьников</a:t>
            </a:r>
          </a:p>
          <a:p>
            <a:pPr marL="270890" indent="-270890" defTabSz="361188">
              <a:spcBef>
                <a:spcPts val="600"/>
              </a:spcBef>
              <a:defRPr sz="2528">
                <a:solidFill>
                  <a:srgbClr val="FFFFFF"/>
                </a:solidFill>
              </a:defRPr>
            </a:pPr>
            <a:r>
              <a:rPr lang="ru-RU" dirty="0"/>
              <a:t>Сохранение прогресса и результатов</a:t>
            </a:r>
          </a:p>
          <a:p>
            <a:pPr marL="270890" indent="-270890" defTabSz="361188">
              <a:spcBef>
                <a:spcPts val="600"/>
              </a:spcBef>
              <a:defRPr sz="2528">
                <a:solidFill>
                  <a:srgbClr val="FFFFFF"/>
                </a:solidFill>
              </a:defRPr>
            </a:pPr>
            <a:r>
              <a:rPr lang="ru-RU" dirty="0"/>
              <a:t>Возможность дальнейшего расширения</a:t>
            </a:r>
          </a:p>
        </p:txBody>
      </p:sp>
      <p:pic>
        <p:nvPicPr>
          <p:cNvPr id="131" name="CleanShot 2026-01-19 at 15.04.49@2x.png" descr="CleanShot 2026-01-19 at 15.04.49@2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007" y="1432306"/>
            <a:ext cx="4218930" cy="241278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2" name="CleanShot 2026-01-19 at 15.04.10@2x.png" descr="CleanShot 2026-01-19 at 15.04.10@2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8152" y="4126496"/>
            <a:ext cx="4216641" cy="24127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F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itle 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b="1" dirty="0" err="1"/>
              <a:t>Выводы</a:t>
            </a:r>
            <a:r>
              <a:rPr b="1" dirty="0"/>
              <a:t> </a:t>
            </a:r>
            <a:r>
              <a:rPr b="1" dirty="0" err="1"/>
              <a:t>и</a:t>
            </a:r>
            <a:r>
              <a:rPr b="1" dirty="0"/>
              <a:t> </a:t>
            </a:r>
            <a:r>
              <a:rPr b="1" dirty="0" err="1"/>
              <a:t>перспективы</a:t>
            </a:r>
            <a:r>
              <a:rPr b="1" dirty="0"/>
              <a:t> </a:t>
            </a:r>
            <a:r>
              <a:rPr b="1" dirty="0" err="1"/>
              <a:t>развития</a:t>
            </a:r>
            <a:endParaRPr b="1" dirty="0"/>
          </a:p>
        </p:txBody>
      </p:sp>
      <p:sp>
        <p:nvSpPr>
          <p:cNvPr id="135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0" indent="0" defTabSz="370331">
              <a:spcBef>
                <a:spcPts val="600"/>
              </a:spcBef>
              <a:buSzTx/>
              <a:buFontTx/>
              <a:buNone/>
              <a:defRPr sz="2592">
                <a:solidFill>
                  <a:srgbClr val="FFFFFF"/>
                </a:solidFill>
              </a:defRPr>
            </a:pPr>
            <a:r>
              <a:rPr lang="ru-RU" dirty="0"/>
              <a:t>В ходе проекта был создан работающий веб-тренажёр по кибербезопасности.</a:t>
            </a:r>
          </a:p>
          <a:p>
            <a:pPr marL="277749" indent="-277749" defTabSz="370331">
              <a:spcBef>
                <a:spcPts val="600"/>
              </a:spcBef>
              <a:defRPr sz="2592">
                <a:solidFill>
                  <a:srgbClr val="FFFFFF"/>
                </a:solidFill>
              </a:defRPr>
            </a:pPr>
            <a:endParaRPr lang="ru-RU" dirty="0"/>
          </a:p>
          <a:p>
            <a:pPr marL="0" indent="0" defTabSz="370331">
              <a:spcBef>
                <a:spcPts val="600"/>
              </a:spcBef>
              <a:buSzTx/>
              <a:buFontTx/>
              <a:buNone/>
              <a:defRPr sz="2592">
                <a:solidFill>
                  <a:srgbClr val="FFFFFF"/>
                </a:solidFill>
              </a:defRPr>
            </a:pPr>
            <a:r>
              <a:rPr lang="ru-RU" dirty="0"/>
              <a:t>Проект показал эффективность игрового подхода к обучению цифровой грамотности.</a:t>
            </a:r>
          </a:p>
          <a:p>
            <a:pPr marL="277749" indent="-277749" defTabSz="370331">
              <a:spcBef>
                <a:spcPts val="600"/>
              </a:spcBef>
              <a:defRPr sz="2592">
                <a:solidFill>
                  <a:srgbClr val="FFFFFF"/>
                </a:solidFill>
              </a:defRPr>
            </a:pPr>
            <a:endParaRPr lang="ru-RU" dirty="0"/>
          </a:p>
          <a:p>
            <a:pPr marL="0" indent="0" defTabSz="370331">
              <a:spcBef>
                <a:spcPts val="600"/>
              </a:spcBef>
              <a:buSzTx/>
              <a:buFontTx/>
              <a:buNone/>
              <a:defRPr sz="2592">
                <a:solidFill>
                  <a:srgbClr val="FFFFFF"/>
                </a:solidFill>
              </a:defRPr>
            </a:pPr>
            <a:r>
              <a:rPr lang="ru-RU" b="1" dirty="0"/>
              <a:t>В дальнейшем планируется:</a:t>
            </a:r>
          </a:p>
          <a:p>
            <a:pPr marL="346509" indent="-346509" defTabSz="370331">
              <a:spcBef>
                <a:spcPts val="600"/>
              </a:spcBef>
              <a:buFontTx/>
              <a:buAutoNum type="arabicPeriod"/>
              <a:defRPr sz="2592">
                <a:solidFill>
                  <a:srgbClr val="FFFFFF"/>
                </a:solidFill>
              </a:defRPr>
            </a:pPr>
            <a:r>
              <a:rPr lang="ru-RU" dirty="0"/>
              <a:t>Добавление новых сценариев угроз</a:t>
            </a:r>
          </a:p>
          <a:p>
            <a:pPr marL="346509" indent="-346509" defTabSz="370331">
              <a:spcBef>
                <a:spcPts val="600"/>
              </a:spcBef>
              <a:buFontTx/>
              <a:buAutoNum type="arabicPeriod"/>
              <a:defRPr sz="2592">
                <a:solidFill>
                  <a:srgbClr val="FFFFFF"/>
                </a:solidFill>
              </a:defRPr>
            </a:pPr>
            <a:r>
              <a:rPr lang="ru-RU" dirty="0"/>
              <a:t>Расширение курсов</a:t>
            </a:r>
          </a:p>
          <a:p>
            <a:pPr marL="346509" indent="-346509" defTabSz="370331">
              <a:spcBef>
                <a:spcPts val="600"/>
              </a:spcBef>
              <a:buFontTx/>
              <a:buAutoNum type="arabicPeriod"/>
              <a:defRPr sz="2592">
                <a:solidFill>
                  <a:srgbClr val="FFFFFF"/>
                </a:solidFill>
              </a:defRPr>
            </a:pPr>
            <a:r>
              <a:rPr lang="ru-RU" dirty="0"/>
              <a:t>Интеграция проверки реальных ссылок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365</Words>
  <Application>Microsoft Macintosh PowerPoint</Application>
  <PresentationFormat>On-screen Show (4:3)</PresentationFormat>
  <Paragraphs>71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Times Roman</vt:lpstr>
      <vt:lpstr>Office Theme</vt:lpstr>
      <vt:lpstr>Сайт-тренажёр по кибербезопасности «SafeNet»</vt:lpstr>
      <vt:lpstr>Введение</vt:lpstr>
      <vt:lpstr>Актуальность проекта</vt:lpstr>
      <vt:lpstr>Постановка проблемы</vt:lpstr>
      <vt:lpstr>Цель и задачи проекта</vt:lpstr>
      <vt:lpstr>Этапы выполнения работы</vt:lpstr>
      <vt:lpstr>Используемые технологии</vt:lpstr>
      <vt:lpstr>PowerPoint Presentation</vt:lpstr>
      <vt:lpstr>Преимущества проекта</vt:lpstr>
      <vt:lpstr>Выводы и перспективы развития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Artem</cp:lastModifiedBy>
  <cp:revision>3</cp:revision>
  <dcterms:modified xsi:type="dcterms:W3CDTF">2026-01-29T09:23:07Z</dcterms:modified>
</cp:coreProperties>
</file>